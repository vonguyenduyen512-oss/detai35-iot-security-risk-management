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2193F"/>
          </a:solidFill>
          <a:ln/>
        </p:spPr>
      </p:sp>
      <p:sp>
        <p:nvSpPr>
          <p:cNvPr id="3" name="Shape 1"/>
          <p:cNvSpPr/>
          <p:nvPr/>
        </p:nvSpPr>
        <p:spPr>
          <a:xfrm>
            <a:off x="10607040" y="4846320"/>
            <a:ext cx="3108960" cy="3108960"/>
          </a:xfrm>
          <a:prstGeom prst="ellipse">
            <a:avLst/>
          </a:prstGeom>
          <a:solidFill>
            <a:srgbClr val="12193F"/>
          </a:solidFill>
          <a:ln/>
        </p:spPr>
      </p:sp>
      <p:sp>
        <p:nvSpPr>
          <p:cNvPr id="4" name="Text 2"/>
          <p:cNvSpPr/>
          <p:nvPr/>
        </p:nvSpPr>
        <p:spPr>
          <a:xfrm>
            <a:off x="822960" y="685800"/>
            <a:ext cx="10058400" cy="365760"/>
          </a:xfrm>
          <a:prstGeom prst="rect">
            <a:avLst/>
          </a:prstGeom>
          <a:noFill/>
          <a:ln/>
        </p:spPr>
        <p:txBody>
          <a:bodyPr wrap="square" rtlCol="0" anchor="ctr"/>
          <a:lstStyle/>
          <a:p>
            <a:pPr indent="0" marL="0">
              <a:buNone/>
            </a:pPr>
            <a:r>
              <a:rPr lang="en-US" sz="1300" spc="150" kern="0" dirty="0">
                <a:solidFill>
                  <a:srgbClr val="CADCFC"/>
                </a:solidFill>
                <a:latin typeface="Calibri" pitchFamily="34" charset="0"/>
                <a:ea typeface="Calibri" pitchFamily="34" charset="-122"/>
                <a:cs typeface="Calibri" pitchFamily="34" charset="-120"/>
              </a:rPr>
              <a:t>TRƯỜNG ĐẠI HỌC VĂN HIẾN  •  KHOA CÔNG NGHỆ THÔNG TIN</a:t>
            </a:r>
            <a:endParaRPr lang="en-US" sz="1300" dirty="0"/>
          </a:p>
        </p:txBody>
      </p:sp>
      <p:sp>
        <p:nvSpPr>
          <p:cNvPr id="5" name="Text 3"/>
          <p:cNvSpPr/>
          <p:nvPr/>
        </p:nvSpPr>
        <p:spPr>
          <a:xfrm>
            <a:off x="822960" y="1097280"/>
            <a:ext cx="10058400" cy="365760"/>
          </a:xfrm>
          <a:prstGeom prst="rect">
            <a:avLst/>
          </a:prstGeom>
          <a:noFill/>
          <a:ln/>
        </p:spPr>
        <p:txBody>
          <a:bodyPr wrap="square" rtlCol="0" anchor="ctr"/>
          <a:lstStyle/>
          <a:p>
            <a:pPr indent="0" marL="0">
              <a:buNone/>
            </a:pPr>
            <a:r>
              <a:rPr lang="en-US" sz="1300" b="1" spc="100" kern="0" dirty="0">
                <a:solidFill>
                  <a:srgbClr val="CADCFC"/>
                </a:solidFill>
                <a:latin typeface="Calibri" pitchFamily="34" charset="0"/>
                <a:ea typeface="Calibri" pitchFamily="34" charset="-122"/>
                <a:cs typeface="Calibri" pitchFamily="34" charset="-120"/>
              </a:rPr>
              <a:t>TIỂU LUẬN KẾT THÚC HỌC PHẦN — BẢO MẬT IoT (INT4410)</a:t>
            </a:r>
            <a:endParaRPr lang="en-US" sz="1300" dirty="0"/>
          </a:p>
        </p:txBody>
      </p:sp>
      <p:sp>
        <p:nvSpPr>
          <p:cNvPr id="6" name="Text 4"/>
          <p:cNvSpPr/>
          <p:nvPr/>
        </p:nvSpPr>
        <p:spPr>
          <a:xfrm>
            <a:off x="822960" y="2148840"/>
            <a:ext cx="10241280" cy="1828800"/>
          </a:xfrm>
          <a:prstGeom prst="rect">
            <a:avLst/>
          </a:prstGeom>
          <a:noFill/>
          <a:ln/>
        </p:spPr>
        <p:txBody>
          <a:bodyPr wrap="square"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QUẢN LÝ RỦI RO BẢO MẬT</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CHO HỆ THỐNG IoT QUY MÔ NHỎ</a:t>
            </a:r>
            <a:endParaRPr lang="en-US" sz="4000" dirty="0"/>
          </a:p>
        </p:txBody>
      </p:sp>
      <p:sp>
        <p:nvSpPr>
          <p:cNvPr id="7" name="Shape 5"/>
          <p:cNvSpPr/>
          <p:nvPr/>
        </p:nvSpPr>
        <p:spPr>
          <a:xfrm>
            <a:off x="841248" y="4160520"/>
            <a:ext cx="1554480" cy="384048"/>
          </a:xfrm>
          <a:prstGeom prst="roundRect">
            <a:avLst>
              <a:gd name="adj" fmla="val 14286"/>
            </a:avLst>
          </a:prstGeom>
          <a:solidFill>
            <a:srgbClr val="B23A2E"/>
          </a:solidFill>
          <a:ln/>
        </p:spPr>
      </p:sp>
      <p:sp>
        <p:nvSpPr>
          <p:cNvPr id="8" name="Text 6"/>
          <p:cNvSpPr/>
          <p:nvPr/>
        </p:nvSpPr>
        <p:spPr>
          <a:xfrm>
            <a:off x="841248" y="4160520"/>
            <a:ext cx="155448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ĐỀ TÀI 35</a:t>
            </a:r>
            <a:endParaRPr lang="en-US" sz="1050" dirty="0"/>
          </a:p>
        </p:txBody>
      </p:sp>
      <p:sp>
        <p:nvSpPr>
          <p:cNvPr id="9" name="Shape 7"/>
          <p:cNvSpPr/>
          <p:nvPr/>
        </p:nvSpPr>
        <p:spPr>
          <a:xfrm>
            <a:off x="841248" y="4892040"/>
            <a:ext cx="5669280" cy="0"/>
          </a:xfrm>
          <a:prstGeom prst="line">
            <a:avLst/>
          </a:prstGeom>
          <a:noFill/>
          <a:ln w="12700">
            <a:solidFill>
              <a:srgbClr val="CADCFC"/>
            </a:solidFill>
            <a:prstDash val="solid"/>
          </a:ln>
        </p:spPr>
      </p:sp>
      <p:sp>
        <p:nvSpPr>
          <p:cNvPr id="10" name="Text 8"/>
          <p:cNvSpPr/>
          <p:nvPr/>
        </p:nvSpPr>
        <p:spPr>
          <a:xfrm>
            <a:off x="841248" y="5074920"/>
            <a:ext cx="9875520" cy="1188720"/>
          </a:xfrm>
          <a:prstGeom prst="rect">
            <a:avLst/>
          </a:prstGeom>
          <a:noFill/>
          <a:ln/>
        </p:spPr>
        <p:txBody>
          <a:bodyPr wrap="square" rtlCol="0" anchor="ctr"/>
          <a:lstStyle/>
          <a:p>
            <a:pPr indent="0" marL="0">
              <a:lnSpc>
                <a:spcPct val="135000"/>
              </a:lnSpc>
              <a:buNone/>
            </a:pPr>
            <a:r>
              <a:rPr lang="en-US" sz="1400" b="1" dirty="0">
                <a:solidFill>
                  <a:srgbClr val="CADCFC"/>
                </a:solidFill>
                <a:latin typeface="Calibri" pitchFamily="34" charset="0"/>
                <a:ea typeface="Calibri" pitchFamily="34" charset="-122"/>
                <a:cs typeface="Calibri" pitchFamily="34" charset="-120"/>
              </a:rPr>
              <a:t>Sinh viên thực hiện:  </a:t>
            </a:r>
            <a:pPr indent="0" marL="0">
              <a:lnSpc>
                <a:spcPct val="135000"/>
              </a:lnSpc>
              <a:buNone/>
            </a:pPr>
            <a:r>
              <a:rPr lang="en-US" sz="1400" dirty="0">
                <a:solidFill>
                  <a:srgbClr val="FFFFFF"/>
                </a:solidFill>
                <a:latin typeface="Calibri" pitchFamily="34" charset="0"/>
                <a:ea typeface="Calibri" pitchFamily="34" charset="-122"/>
                <a:cs typeface="Calibri" pitchFamily="34" charset="-120"/>
              </a:rPr>
              <a:t>Võ Nguyễn Duyên — MSSV 231A010722
</a:t>
            </a:r>
            <a:pPr indent="0" marL="0">
              <a:lnSpc>
                <a:spcPct val="135000"/>
              </a:lnSpc>
              <a:buNone/>
            </a:pPr>
            <a:r>
              <a:rPr lang="en-US" sz="1400" b="1" dirty="0">
                <a:solidFill>
                  <a:srgbClr val="CADCFC"/>
                </a:solidFill>
                <a:latin typeface="Calibri" pitchFamily="34" charset="0"/>
                <a:ea typeface="Calibri" pitchFamily="34" charset="-122"/>
                <a:cs typeface="Calibri" pitchFamily="34" charset="-120"/>
              </a:rPr>
              <a:t>Giảng viên hướng dẫn:  </a:t>
            </a:r>
            <a:pPr indent="0" marL="0">
              <a:lnSpc>
                <a:spcPct val="135000"/>
              </a:lnSpc>
              <a:buNone/>
            </a:pPr>
            <a:r>
              <a:rPr lang="en-US" sz="1400" dirty="0">
                <a:solidFill>
                  <a:srgbClr val="FFFFFF"/>
                </a:solidFill>
                <a:latin typeface="Calibri" pitchFamily="34" charset="0"/>
                <a:ea typeface="Calibri" pitchFamily="34" charset="-122"/>
                <a:cs typeface="Calibri" pitchFamily="34" charset="-120"/>
              </a:rPr>
              <a:t>Hồ Nhựt Minh Sĩ
</a:t>
            </a:r>
            <a:pPr indent="0" marL="0">
              <a:lnSpc>
                <a:spcPct val="135000"/>
              </a:lnSpc>
              <a:buNone/>
            </a:pPr>
            <a:r>
              <a:rPr lang="en-US" sz="1400" b="1" dirty="0">
                <a:solidFill>
                  <a:srgbClr val="CADCFC"/>
                </a:solidFill>
                <a:latin typeface="Calibri" pitchFamily="34" charset="0"/>
                <a:ea typeface="Calibri" pitchFamily="34" charset="-122"/>
                <a:cs typeface="Calibri" pitchFamily="34" charset="-120"/>
              </a:rPr>
              <a:t>Lớp học phần:  </a:t>
            </a:r>
            <a:pPr indent="0" marL="0">
              <a:lnSpc>
                <a:spcPct val="135000"/>
              </a:lnSpc>
              <a:buNone/>
            </a:pPr>
            <a:r>
              <a:rPr lang="en-US" sz="1400" dirty="0">
                <a:solidFill>
                  <a:srgbClr val="FFFFFF"/>
                </a:solidFill>
                <a:latin typeface="Calibri" pitchFamily="34" charset="0"/>
                <a:ea typeface="Calibri" pitchFamily="34" charset="-122"/>
                <a:cs typeface="Calibri" pitchFamily="34" charset="-120"/>
              </a:rPr>
              <a:t>INT4410 — Bảo mật trong IoT   •   TP. Hồ Chí Minh,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E2761"/>
                </a:solidFill>
                <a:latin typeface="Calibri" pitchFamily="34" charset="0"/>
                <a:ea typeface="Calibri" pitchFamily="34" charset="-122"/>
                <a:cs typeface="Calibri" pitchFamily="34" charset="-120"/>
              </a:rPr>
              <a:t>BỐI CẢNH NGHIÊN CỨU</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indent="0" marL="0">
              <a:buNone/>
            </a:pPr>
            <a:r>
              <a:rPr lang="en-US" sz="2800" b="1" dirty="0">
                <a:solidFill>
                  <a:srgbClr val="24272E"/>
                </a:solidFill>
                <a:latin typeface="Cambria" pitchFamily="34" charset="0"/>
                <a:ea typeface="Cambria" pitchFamily="34" charset="-122"/>
                <a:cs typeface="Cambria" pitchFamily="34" charset="-120"/>
              </a:rPr>
              <a:t>Vấn đề bảo mật và mục tiêu đề tài</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indent="0" marL="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508760"/>
            <a:ext cx="5394960" cy="4709160"/>
          </a:xfrm>
          <a:prstGeom prst="roundRect">
            <a:avLst>
              <a:gd name="adj" fmla="val 1553"/>
            </a:avLst>
          </a:prstGeom>
          <a:solidFill>
            <a:srgbClr val="F4F6FB"/>
          </a:solidFill>
          <a:ln/>
        </p:spPr>
      </p:sp>
      <p:sp>
        <p:nvSpPr>
          <p:cNvPr id="7" name="Text 5"/>
          <p:cNvSpPr/>
          <p:nvPr/>
        </p:nvSpPr>
        <p:spPr>
          <a:xfrm>
            <a:off x="868680" y="1737360"/>
            <a:ext cx="4572000" cy="365760"/>
          </a:xfrm>
          <a:prstGeom prst="rect">
            <a:avLst/>
          </a:prstGeom>
          <a:noFill/>
          <a:ln/>
        </p:spPr>
        <p:txBody>
          <a:bodyPr wrap="square" rtlCol="0" anchor="ctr"/>
          <a:lstStyle/>
          <a:p>
            <a:pPr indent="0" marL="0">
              <a:buNone/>
            </a:pPr>
            <a:r>
              <a:rPr lang="en-US" sz="1700" b="1" dirty="0">
                <a:solidFill>
                  <a:srgbClr val="B23A2E"/>
                </a:solidFill>
                <a:latin typeface="Cambria" pitchFamily="34" charset="0"/>
                <a:ea typeface="Cambria" pitchFamily="34" charset="-122"/>
                <a:cs typeface="Cambria" pitchFamily="34" charset="-120"/>
              </a:rPr>
              <a:t>VẤN ĐỀ</a:t>
            </a:r>
            <a:endParaRPr lang="en-US" sz="1700" dirty="0"/>
          </a:p>
        </p:txBody>
      </p:sp>
      <p:sp>
        <p:nvSpPr>
          <p:cNvPr id="8" name="Shape 6"/>
          <p:cNvSpPr/>
          <p:nvPr/>
        </p:nvSpPr>
        <p:spPr>
          <a:xfrm>
            <a:off x="868680" y="2240280"/>
            <a:ext cx="201168" cy="201168"/>
          </a:xfrm>
          <a:prstGeom prst="ellipse">
            <a:avLst/>
          </a:prstGeom>
          <a:solidFill>
            <a:srgbClr val="B23A2E"/>
          </a:solidFill>
          <a:ln/>
        </p:spPr>
      </p:sp>
      <p:sp>
        <p:nvSpPr>
          <p:cNvPr id="9" name="Text 7"/>
          <p:cNvSpPr/>
          <p:nvPr/>
        </p:nvSpPr>
        <p:spPr>
          <a:xfrm>
            <a:off x="868680" y="2240280"/>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0" name="Text 8"/>
          <p:cNvSpPr/>
          <p:nvPr/>
        </p:nvSpPr>
        <p:spPr>
          <a:xfrm>
            <a:off x="1234440" y="2167128"/>
            <a:ext cx="4572000" cy="685800"/>
          </a:xfrm>
          <a:prstGeom prst="rect">
            <a:avLst/>
          </a:prstGeom>
          <a:noFill/>
          <a:ln/>
        </p:spPr>
        <p:txBody>
          <a:bodyPr wrap="square" rtlCol="0" anchor="t"/>
          <a:lstStyle/>
          <a:p>
            <a:pPr indent="0" marL="0">
              <a:lnSpc>
                <a:spcPct val="105000"/>
              </a:lnSpc>
              <a:buNone/>
            </a:pPr>
            <a:r>
              <a:rPr lang="en-US" sz="1250" dirty="0">
                <a:solidFill>
                  <a:srgbClr val="24272E"/>
                </a:solidFill>
                <a:latin typeface="Calibri" pitchFamily="34" charset="0"/>
                <a:ea typeface="Calibri" pitchFamily="34" charset="-122"/>
                <a:cs typeface="Calibri" pitchFamily="34" charset="-120"/>
              </a:rPr>
              <a:t>IoT quy mô nhỏ (camera, cảm biến, khóa cửa, gateway) phổ biến nhưng không có bộ phận an ninh chuyên trách</a:t>
            </a:r>
            <a:endParaRPr lang="en-US" sz="1250" dirty="0"/>
          </a:p>
        </p:txBody>
      </p:sp>
      <p:sp>
        <p:nvSpPr>
          <p:cNvPr id="11" name="Shape 9"/>
          <p:cNvSpPr/>
          <p:nvPr/>
        </p:nvSpPr>
        <p:spPr>
          <a:xfrm>
            <a:off x="868680" y="3081528"/>
            <a:ext cx="201168" cy="201168"/>
          </a:xfrm>
          <a:prstGeom prst="ellipse">
            <a:avLst/>
          </a:prstGeom>
          <a:solidFill>
            <a:srgbClr val="B23A2E"/>
          </a:solidFill>
          <a:ln/>
        </p:spPr>
      </p:sp>
      <p:sp>
        <p:nvSpPr>
          <p:cNvPr id="12" name="Text 10"/>
          <p:cNvSpPr/>
          <p:nvPr/>
        </p:nvSpPr>
        <p:spPr>
          <a:xfrm>
            <a:off x="868680" y="3081528"/>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3" name="Text 11"/>
          <p:cNvSpPr/>
          <p:nvPr/>
        </p:nvSpPr>
        <p:spPr>
          <a:xfrm>
            <a:off x="1234440" y="3008376"/>
            <a:ext cx="4572000" cy="685800"/>
          </a:xfrm>
          <a:prstGeom prst="rect">
            <a:avLst/>
          </a:prstGeom>
          <a:noFill/>
          <a:ln/>
        </p:spPr>
        <p:txBody>
          <a:bodyPr wrap="square" rtlCol="0" anchor="t"/>
          <a:lstStyle/>
          <a:p>
            <a:pPr indent="0" marL="0">
              <a:lnSpc>
                <a:spcPct val="105000"/>
              </a:lnSpc>
              <a:buNone/>
            </a:pPr>
            <a:r>
              <a:rPr lang="en-US" sz="1250" dirty="0">
                <a:solidFill>
                  <a:srgbClr val="24272E"/>
                </a:solidFill>
                <a:latin typeface="Calibri" pitchFamily="34" charset="0"/>
                <a:ea typeface="Calibri" pitchFamily="34" charset="-122"/>
                <a:cs typeface="Calibri" pitchFamily="34" charset="-120"/>
              </a:rPr>
              <a:t>Không có danh mục tài sản rõ ràng cần bảo vệ</a:t>
            </a:r>
            <a:endParaRPr lang="en-US" sz="1250" dirty="0"/>
          </a:p>
        </p:txBody>
      </p:sp>
      <p:sp>
        <p:nvSpPr>
          <p:cNvPr id="14" name="Shape 12"/>
          <p:cNvSpPr/>
          <p:nvPr/>
        </p:nvSpPr>
        <p:spPr>
          <a:xfrm>
            <a:off x="868680" y="3922776"/>
            <a:ext cx="201168" cy="201168"/>
          </a:xfrm>
          <a:prstGeom prst="ellipse">
            <a:avLst/>
          </a:prstGeom>
          <a:solidFill>
            <a:srgbClr val="B23A2E"/>
          </a:solidFill>
          <a:ln/>
        </p:spPr>
      </p:sp>
      <p:sp>
        <p:nvSpPr>
          <p:cNvPr id="15" name="Text 13"/>
          <p:cNvSpPr/>
          <p:nvPr/>
        </p:nvSpPr>
        <p:spPr>
          <a:xfrm>
            <a:off x="868680" y="3922776"/>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6" name="Text 14"/>
          <p:cNvSpPr/>
          <p:nvPr/>
        </p:nvSpPr>
        <p:spPr>
          <a:xfrm>
            <a:off x="1234440" y="3849624"/>
            <a:ext cx="4572000" cy="685800"/>
          </a:xfrm>
          <a:prstGeom prst="rect">
            <a:avLst/>
          </a:prstGeom>
          <a:noFill/>
          <a:ln/>
        </p:spPr>
        <p:txBody>
          <a:bodyPr wrap="square" rtlCol="0" anchor="t"/>
          <a:lstStyle/>
          <a:p>
            <a:pPr indent="0" marL="0">
              <a:lnSpc>
                <a:spcPct val="105000"/>
              </a:lnSpc>
              <a:buNone/>
            </a:pPr>
            <a:r>
              <a:rPr lang="en-US" sz="1250" dirty="0">
                <a:solidFill>
                  <a:srgbClr val="24272E"/>
                </a:solidFill>
                <a:latin typeface="Calibri" pitchFamily="34" charset="0"/>
                <a:ea typeface="Calibri" pitchFamily="34" charset="-122"/>
                <a:cs typeface="Calibri" pitchFamily="34" charset="-120"/>
              </a:rPr>
              <a:t>Không có sổ theo dõi rủi ro (risk register) có cấu trúc</a:t>
            </a:r>
            <a:endParaRPr lang="en-US" sz="1250" dirty="0"/>
          </a:p>
        </p:txBody>
      </p:sp>
      <p:sp>
        <p:nvSpPr>
          <p:cNvPr id="17" name="Shape 15"/>
          <p:cNvSpPr/>
          <p:nvPr/>
        </p:nvSpPr>
        <p:spPr>
          <a:xfrm>
            <a:off x="868680" y="4764024"/>
            <a:ext cx="201168" cy="201168"/>
          </a:xfrm>
          <a:prstGeom prst="ellipse">
            <a:avLst/>
          </a:prstGeom>
          <a:solidFill>
            <a:srgbClr val="B23A2E"/>
          </a:solidFill>
          <a:ln/>
        </p:spPr>
      </p:sp>
      <p:sp>
        <p:nvSpPr>
          <p:cNvPr id="18" name="Text 16"/>
          <p:cNvSpPr/>
          <p:nvPr/>
        </p:nvSpPr>
        <p:spPr>
          <a:xfrm>
            <a:off x="868680" y="476402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9" name="Text 17"/>
          <p:cNvSpPr/>
          <p:nvPr/>
        </p:nvSpPr>
        <p:spPr>
          <a:xfrm>
            <a:off x="1234440" y="4690872"/>
            <a:ext cx="4572000" cy="685800"/>
          </a:xfrm>
          <a:prstGeom prst="rect">
            <a:avLst/>
          </a:prstGeom>
          <a:noFill/>
          <a:ln/>
        </p:spPr>
        <p:txBody>
          <a:bodyPr wrap="square" rtlCol="0" anchor="t"/>
          <a:lstStyle/>
          <a:p>
            <a:pPr indent="0" marL="0">
              <a:lnSpc>
                <a:spcPct val="105000"/>
              </a:lnSpc>
              <a:buNone/>
            </a:pPr>
            <a:r>
              <a:rPr lang="en-US" sz="1250" dirty="0">
                <a:solidFill>
                  <a:srgbClr val="24272E"/>
                </a:solidFill>
                <a:latin typeface="Calibri" pitchFamily="34" charset="0"/>
                <a:ea typeface="Calibri" pitchFamily="34" charset="-122"/>
                <a:cs typeface="Calibri" pitchFamily="34" charset="-120"/>
              </a:rPr>
              <a:t>Không có kế hoạch xử lý theo mức ưu tiên</a:t>
            </a:r>
            <a:endParaRPr lang="en-US" sz="1250" dirty="0"/>
          </a:p>
        </p:txBody>
      </p:sp>
      <p:sp>
        <p:nvSpPr>
          <p:cNvPr id="20" name="Shape 18"/>
          <p:cNvSpPr/>
          <p:nvPr/>
        </p:nvSpPr>
        <p:spPr>
          <a:xfrm>
            <a:off x="868680" y="5605272"/>
            <a:ext cx="201168" cy="201168"/>
          </a:xfrm>
          <a:prstGeom prst="ellipse">
            <a:avLst/>
          </a:prstGeom>
          <a:solidFill>
            <a:srgbClr val="B23A2E"/>
          </a:solidFill>
          <a:ln/>
        </p:spPr>
      </p:sp>
      <p:sp>
        <p:nvSpPr>
          <p:cNvPr id="21" name="Text 19"/>
          <p:cNvSpPr/>
          <p:nvPr/>
        </p:nvSpPr>
        <p:spPr>
          <a:xfrm>
            <a:off x="868680" y="5605272"/>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2" name="Text 20"/>
          <p:cNvSpPr/>
          <p:nvPr/>
        </p:nvSpPr>
        <p:spPr>
          <a:xfrm>
            <a:off x="1234440" y="5532120"/>
            <a:ext cx="4572000" cy="685800"/>
          </a:xfrm>
          <a:prstGeom prst="rect">
            <a:avLst/>
          </a:prstGeom>
          <a:noFill/>
          <a:ln/>
        </p:spPr>
        <p:txBody>
          <a:bodyPr wrap="square" rtlCol="0" anchor="t"/>
          <a:lstStyle/>
          <a:p>
            <a:pPr indent="0" marL="0">
              <a:lnSpc>
                <a:spcPct val="105000"/>
              </a:lnSpc>
              <a:buNone/>
            </a:pPr>
            <a:r>
              <a:rPr lang="en-US" sz="1250" dirty="0">
                <a:solidFill>
                  <a:srgbClr val="24272E"/>
                </a:solidFill>
                <a:latin typeface="Calibri" pitchFamily="34" charset="0"/>
                <a:ea typeface="Calibri" pitchFamily="34" charset="-122"/>
                <a:cs typeface="Calibri" pitchFamily="34" charset="-120"/>
              </a:rPr>
              <a:t>Hậu quả: xử lý sự cố mang tính bị động, không phòng ngừa chủ động</a:t>
            </a:r>
            <a:endParaRPr lang="en-US" sz="1250" dirty="0"/>
          </a:p>
        </p:txBody>
      </p:sp>
      <p:sp>
        <p:nvSpPr>
          <p:cNvPr id="23" name="Shape 21"/>
          <p:cNvSpPr/>
          <p:nvPr/>
        </p:nvSpPr>
        <p:spPr>
          <a:xfrm>
            <a:off x="6245352" y="1508760"/>
            <a:ext cx="5394960" cy="4709160"/>
          </a:xfrm>
          <a:prstGeom prst="roundRect">
            <a:avLst>
              <a:gd name="adj" fmla="val 1553"/>
            </a:avLst>
          </a:prstGeom>
          <a:solidFill>
            <a:srgbClr val="1E2761"/>
          </a:solidFill>
          <a:ln/>
        </p:spPr>
      </p:sp>
      <p:sp>
        <p:nvSpPr>
          <p:cNvPr id="24" name="Text 22"/>
          <p:cNvSpPr/>
          <p:nvPr/>
        </p:nvSpPr>
        <p:spPr>
          <a:xfrm>
            <a:off x="6565392" y="1737360"/>
            <a:ext cx="4846320" cy="365760"/>
          </a:xfrm>
          <a:prstGeom prst="rect">
            <a:avLst/>
          </a:prstGeom>
          <a:noFill/>
          <a:ln/>
        </p:spPr>
        <p:txBody>
          <a:bodyPr wrap="square" rtlCol="0" anchor="ctr"/>
          <a:lstStyle/>
          <a:p>
            <a:pPr indent="0" marL="0">
              <a:buNone/>
            </a:pPr>
            <a:r>
              <a:rPr lang="en-US" sz="1700" b="1" dirty="0">
                <a:solidFill>
                  <a:srgbClr val="CADCFC"/>
                </a:solidFill>
                <a:latin typeface="Cambria" pitchFamily="34" charset="0"/>
                <a:ea typeface="Cambria" pitchFamily="34" charset="-122"/>
                <a:cs typeface="Cambria" pitchFamily="34" charset="-120"/>
              </a:rPr>
              <a:t>MỤC TIÊU (MT-01 → MT-05)</a:t>
            </a:r>
            <a:endParaRPr lang="en-US" sz="1700" dirty="0"/>
          </a:p>
        </p:txBody>
      </p:sp>
      <p:sp>
        <p:nvSpPr>
          <p:cNvPr id="25" name="Shape 23"/>
          <p:cNvSpPr/>
          <p:nvPr/>
        </p:nvSpPr>
        <p:spPr>
          <a:xfrm>
            <a:off x="6565392" y="2240280"/>
            <a:ext cx="310896" cy="310896"/>
          </a:xfrm>
          <a:prstGeom prst="ellipse">
            <a:avLst/>
          </a:prstGeom>
          <a:solidFill>
            <a:srgbClr val="CADCFC"/>
          </a:solidFill>
          <a:ln/>
        </p:spPr>
      </p:sp>
      <p:sp>
        <p:nvSpPr>
          <p:cNvPr id="26" name="Text 24"/>
          <p:cNvSpPr/>
          <p:nvPr/>
        </p:nvSpPr>
        <p:spPr>
          <a:xfrm>
            <a:off x="6565392" y="2240280"/>
            <a:ext cx="310896" cy="310896"/>
          </a:xfrm>
          <a:prstGeom prst="rect">
            <a:avLst/>
          </a:prstGeom>
          <a:noFill/>
          <a:ln/>
        </p:spPr>
        <p:txBody>
          <a:bodyPr wrap="square"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MT1</a:t>
            </a:r>
            <a:endParaRPr lang="en-US" sz="950" dirty="0"/>
          </a:p>
        </p:txBody>
      </p:sp>
      <p:sp>
        <p:nvSpPr>
          <p:cNvPr id="27" name="Text 25"/>
          <p:cNvSpPr/>
          <p:nvPr/>
        </p:nvSpPr>
        <p:spPr>
          <a:xfrm>
            <a:off x="7022592" y="2185416"/>
            <a:ext cx="4480560" cy="68580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Xây dựng danh mục tài sản &amp; mô hình hệ thống IoT quy mô nhỏ</a:t>
            </a:r>
            <a:endParaRPr lang="en-US" sz="1250" dirty="0"/>
          </a:p>
        </p:txBody>
      </p:sp>
      <p:sp>
        <p:nvSpPr>
          <p:cNvPr id="28" name="Shape 26"/>
          <p:cNvSpPr/>
          <p:nvPr/>
        </p:nvSpPr>
        <p:spPr>
          <a:xfrm>
            <a:off x="6565392" y="3081528"/>
            <a:ext cx="310896" cy="310896"/>
          </a:xfrm>
          <a:prstGeom prst="ellipse">
            <a:avLst/>
          </a:prstGeom>
          <a:solidFill>
            <a:srgbClr val="CADCFC"/>
          </a:solidFill>
          <a:ln/>
        </p:spPr>
      </p:sp>
      <p:sp>
        <p:nvSpPr>
          <p:cNvPr id="29" name="Text 27"/>
          <p:cNvSpPr/>
          <p:nvPr/>
        </p:nvSpPr>
        <p:spPr>
          <a:xfrm>
            <a:off x="6565392" y="3081528"/>
            <a:ext cx="310896" cy="310896"/>
          </a:xfrm>
          <a:prstGeom prst="rect">
            <a:avLst/>
          </a:prstGeom>
          <a:noFill/>
          <a:ln/>
        </p:spPr>
        <p:txBody>
          <a:bodyPr wrap="square"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MT2</a:t>
            </a:r>
            <a:endParaRPr lang="en-US" sz="950" dirty="0"/>
          </a:p>
        </p:txBody>
      </p:sp>
      <p:sp>
        <p:nvSpPr>
          <p:cNvPr id="30" name="Text 28"/>
          <p:cNvSpPr/>
          <p:nvPr/>
        </p:nvSpPr>
        <p:spPr>
          <a:xfrm>
            <a:off x="7022592" y="3026664"/>
            <a:ext cx="4480560" cy="68580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Xác định mối đe dọa, lỗ hổng và mức rủi ro qua risk register</a:t>
            </a:r>
            <a:endParaRPr lang="en-US" sz="1250" dirty="0"/>
          </a:p>
        </p:txBody>
      </p:sp>
      <p:sp>
        <p:nvSpPr>
          <p:cNvPr id="31" name="Shape 29"/>
          <p:cNvSpPr/>
          <p:nvPr/>
        </p:nvSpPr>
        <p:spPr>
          <a:xfrm>
            <a:off x="6565392" y="3922776"/>
            <a:ext cx="310896" cy="310896"/>
          </a:xfrm>
          <a:prstGeom prst="ellipse">
            <a:avLst/>
          </a:prstGeom>
          <a:solidFill>
            <a:srgbClr val="CADCFC"/>
          </a:solidFill>
          <a:ln/>
        </p:spPr>
      </p:sp>
      <p:sp>
        <p:nvSpPr>
          <p:cNvPr id="32" name="Text 30"/>
          <p:cNvSpPr/>
          <p:nvPr/>
        </p:nvSpPr>
        <p:spPr>
          <a:xfrm>
            <a:off x="6565392" y="3922776"/>
            <a:ext cx="310896" cy="310896"/>
          </a:xfrm>
          <a:prstGeom prst="rect">
            <a:avLst/>
          </a:prstGeom>
          <a:noFill/>
          <a:ln/>
        </p:spPr>
        <p:txBody>
          <a:bodyPr wrap="square"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MT3</a:t>
            </a:r>
            <a:endParaRPr lang="en-US" sz="950" dirty="0"/>
          </a:p>
        </p:txBody>
      </p:sp>
      <p:sp>
        <p:nvSpPr>
          <p:cNvPr id="33" name="Text 31"/>
          <p:cNvSpPr/>
          <p:nvPr/>
        </p:nvSpPr>
        <p:spPr>
          <a:xfrm>
            <a:off x="7022592" y="3867912"/>
            <a:ext cx="4480560" cy="68580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Xây dựng ma trận rủi ro 5×5 để xếp hạng ưu tiên xử lý</a:t>
            </a:r>
            <a:endParaRPr lang="en-US" sz="1250" dirty="0"/>
          </a:p>
        </p:txBody>
      </p:sp>
      <p:sp>
        <p:nvSpPr>
          <p:cNvPr id="34" name="Shape 32"/>
          <p:cNvSpPr/>
          <p:nvPr/>
        </p:nvSpPr>
        <p:spPr>
          <a:xfrm>
            <a:off x="6565392" y="4764024"/>
            <a:ext cx="310896" cy="310896"/>
          </a:xfrm>
          <a:prstGeom prst="ellipse">
            <a:avLst/>
          </a:prstGeom>
          <a:solidFill>
            <a:srgbClr val="CADCFC"/>
          </a:solidFill>
          <a:ln/>
        </p:spPr>
      </p:sp>
      <p:sp>
        <p:nvSpPr>
          <p:cNvPr id="35" name="Text 33"/>
          <p:cNvSpPr/>
          <p:nvPr/>
        </p:nvSpPr>
        <p:spPr>
          <a:xfrm>
            <a:off x="6565392" y="4764024"/>
            <a:ext cx="310896" cy="310896"/>
          </a:xfrm>
          <a:prstGeom prst="rect">
            <a:avLst/>
          </a:prstGeom>
          <a:noFill/>
          <a:ln/>
        </p:spPr>
        <p:txBody>
          <a:bodyPr wrap="square"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MT4</a:t>
            </a:r>
            <a:endParaRPr lang="en-US" sz="950" dirty="0"/>
          </a:p>
        </p:txBody>
      </p:sp>
      <p:sp>
        <p:nvSpPr>
          <p:cNvPr id="36" name="Text 34"/>
          <p:cNvSpPr/>
          <p:nvPr/>
        </p:nvSpPr>
        <p:spPr>
          <a:xfrm>
            <a:off x="7022592" y="4709160"/>
            <a:ext cx="4480560" cy="68580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Đề xuất kế hoạch xử lý cho 5 rủi ro cao nhất</a:t>
            </a:r>
            <a:endParaRPr lang="en-US" sz="1250" dirty="0"/>
          </a:p>
        </p:txBody>
      </p:sp>
      <p:sp>
        <p:nvSpPr>
          <p:cNvPr id="37" name="Shape 35"/>
          <p:cNvSpPr/>
          <p:nvPr/>
        </p:nvSpPr>
        <p:spPr>
          <a:xfrm>
            <a:off x="6565392" y="5605272"/>
            <a:ext cx="310896" cy="310896"/>
          </a:xfrm>
          <a:prstGeom prst="ellipse">
            <a:avLst/>
          </a:prstGeom>
          <a:solidFill>
            <a:srgbClr val="CADCFC"/>
          </a:solidFill>
          <a:ln/>
        </p:spPr>
      </p:sp>
      <p:sp>
        <p:nvSpPr>
          <p:cNvPr id="38" name="Text 36"/>
          <p:cNvSpPr/>
          <p:nvPr/>
        </p:nvSpPr>
        <p:spPr>
          <a:xfrm>
            <a:off x="6565392" y="5605272"/>
            <a:ext cx="310896" cy="310896"/>
          </a:xfrm>
          <a:prstGeom prst="rect">
            <a:avLst/>
          </a:prstGeom>
          <a:noFill/>
          <a:ln/>
        </p:spPr>
        <p:txBody>
          <a:bodyPr wrap="square"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MT5</a:t>
            </a:r>
            <a:endParaRPr lang="en-US" sz="950" dirty="0"/>
          </a:p>
        </p:txBody>
      </p:sp>
      <p:sp>
        <p:nvSpPr>
          <p:cNvPr id="39" name="Text 37"/>
          <p:cNvSpPr/>
          <p:nvPr/>
        </p:nvSpPr>
        <p:spPr>
          <a:xfrm>
            <a:off x="7022592" y="5550408"/>
            <a:ext cx="4480560" cy="68580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Xây dựng checklist kiểm tra định kỳ, phù hợp nguồn lực hạn chế</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E2761"/>
                </a:solidFill>
                <a:latin typeface="Calibri" pitchFamily="34" charset="0"/>
                <a:ea typeface="Calibri" pitchFamily="34" charset="-122"/>
                <a:cs typeface="Calibri" pitchFamily="34" charset="-120"/>
              </a:rPr>
              <a:t>CƠ SỞ LÝ THUYẾT</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indent="0" marL="0">
              <a:buNone/>
            </a:pPr>
            <a:r>
              <a:rPr lang="en-US" sz="2800" b="1" dirty="0">
                <a:solidFill>
                  <a:srgbClr val="24272E"/>
                </a:solidFill>
                <a:latin typeface="Cambria" pitchFamily="34" charset="0"/>
                <a:ea typeface="Cambria" pitchFamily="34" charset="-122"/>
                <a:cs typeface="Cambria" pitchFamily="34" charset="-120"/>
              </a:rPr>
              <a:t>Kiến thức nền và nguồn tham khảo sử dụng</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indent="0" marL="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1508760"/>
            <a:ext cx="3611880" cy="1965960"/>
          </a:xfrm>
          <a:prstGeom prst="roundRect">
            <a:avLst>
              <a:gd name="adj" fmla="val 3721"/>
            </a:avLst>
          </a:prstGeom>
          <a:solidFill>
            <a:srgbClr val="F4F6FB"/>
          </a:solidFill>
          <a:ln/>
        </p:spPr>
      </p:sp>
      <p:sp>
        <p:nvSpPr>
          <p:cNvPr id="7" name="Shape 5"/>
          <p:cNvSpPr/>
          <p:nvPr/>
        </p:nvSpPr>
        <p:spPr>
          <a:xfrm>
            <a:off x="777240" y="1737360"/>
            <a:ext cx="566928" cy="566928"/>
          </a:xfrm>
          <a:prstGeom prst="ellipse">
            <a:avLst/>
          </a:prstGeom>
          <a:solidFill>
            <a:srgbClr val="1E2761"/>
          </a:solidFill>
          <a:ln/>
        </p:spPr>
      </p:sp>
      <p:sp>
        <p:nvSpPr>
          <p:cNvPr id="8" name="Text 6"/>
          <p:cNvSpPr/>
          <p:nvPr/>
        </p:nvSpPr>
        <p:spPr>
          <a:xfrm>
            <a:off x="777240" y="1737360"/>
            <a:ext cx="566928"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ISVS</a:t>
            </a:r>
            <a:endParaRPr lang="en-US" sz="950" dirty="0"/>
          </a:p>
        </p:txBody>
      </p:sp>
      <p:sp>
        <p:nvSpPr>
          <p:cNvPr id="9" name="Text 7"/>
          <p:cNvSpPr/>
          <p:nvPr/>
        </p:nvSpPr>
        <p:spPr>
          <a:xfrm>
            <a:off x="777240" y="2395728"/>
            <a:ext cx="3154680" cy="3200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OWASP ISVS</a:t>
            </a:r>
            <a:endParaRPr lang="en-US" sz="1450" dirty="0"/>
          </a:p>
        </p:txBody>
      </p:sp>
      <p:sp>
        <p:nvSpPr>
          <p:cNvPr id="10" name="Text 8"/>
          <p:cNvSpPr/>
          <p:nvPr/>
        </p:nvSpPr>
        <p:spPr>
          <a:xfrm>
            <a:off x="777240" y="2743200"/>
            <a:ext cx="3154680" cy="640080"/>
          </a:xfrm>
          <a:prstGeom prst="rect">
            <a:avLst/>
          </a:prstGeom>
          <a:noFill/>
          <a:ln/>
        </p:spPr>
        <p:txBody>
          <a:bodyPr wrap="square" rtlCol="0" anchor="t"/>
          <a:lstStyle/>
          <a:p>
            <a:pPr indent="0" marL="0">
              <a:lnSpc>
                <a:spcPct val="110000"/>
              </a:lnSpc>
              <a:buNone/>
            </a:pPr>
            <a:r>
              <a:rPr lang="en-US" sz="1100" dirty="0">
                <a:solidFill>
                  <a:srgbClr val="5B6270"/>
                </a:solidFill>
                <a:latin typeface="Calibri" pitchFamily="34" charset="0"/>
                <a:ea typeface="Calibri" pitchFamily="34" charset="-122"/>
                <a:cs typeface="Calibri" pitchFamily="34" charset="-120"/>
              </a:rPr>
              <a:t>IoT Security Verification Standard — khung yêu cầu bảo mật, dùng để xây dựng risk register và checklist</a:t>
            </a:r>
            <a:endParaRPr lang="en-US" sz="1100" dirty="0"/>
          </a:p>
        </p:txBody>
      </p:sp>
      <p:sp>
        <p:nvSpPr>
          <p:cNvPr id="11" name="Shape 9"/>
          <p:cNvSpPr/>
          <p:nvPr/>
        </p:nvSpPr>
        <p:spPr>
          <a:xfrm>
            <a:off x="4343400" y="1508760"/>
            <a:ext cx="3611880" cy="1965960"/>
          </a:xfrm>
          <a:prstGeom prst="roundRect">
            <a:avLst>
              <a:gd name="adj" fmla="val 3721"/>
            </a:avLst>
          </a:prstGeom>
          <a:solidFill>
            <a:srgbClr val="F4F6FB"/>
          </a:solidFill>
          <a:ln/>
        </p:spPr>
      </p:sp>
      <p:sp>
        <p:nvSpPr>
          <p:cNvPr id="12" name="Shape 10"/>
          <p:cNvSpPr/>
          <p:nvPr/>
        </p:nvSpPr>
        <p:spPr>
          <a:xfrm>
            <a:off x="4572000" y="1737360"/>
            <a:ext cx="566928" cy="566928"/>
          </a:xfrm>
          <a:prstGeom prst="ellipse">
            <a:avLst/>
          </a:prstGeom>
          <a:solidFill>
            <a:srgbClr val="1E2761"/>
          </a:solidFill>
          <a:ln/>
        </p:spPr>
      </p:sp>
      <p:sp>
        <p:nvSpPr>
          <p:cNvPr id="13" name="Text 11"/>
          <p:cNvSpPr/>
          <p:nvPr/>
        </p:nvSpPr>
        <p:spPr>
          <a:xfrm>
            <a:off x="4572000" y="1737360"/>
            <a:ext cx="566928"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ISTG</a:t>
            </a:r>
            <a:endParaRPr lang="en-US" sz="950" dirty="0"/>
          </a:p>
        </p:txBody>
      </p:sp>
      <p:sp>
        <p:nvSpPr>
          <p:cNvPr id="14" name="Text 12"/>
          <p:cNvSpPr/>
          <p:nvPr/>
        </p:nvSpPr>
        <p:spPr>
          <a:xfrm>
            <a:off x="4572000" y="2395728"/>
            <a:ext cx="3154680" cy="3200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OWASP ISTG</a:t>
            </a:r>
            <a:endParaRPr lang="en-US" sz="1450" dirty="0"/>
          </a:p>
        </p:txBody>
      </p:sp>
      <p:sp>
        <p:nvSpPr>
          <p:cNvPr id="15" name="Text 13"/>
          <p:cNvSpPr/>
          <p:nvPr/>
        </p:nvSpPr>
        <p:spPr>
          <a:xfrm>
            <a:off x="4572000" y="2743200"/>
            <a:ext cx="3154680" cy="640080"/>
          </a:xfrm>
          <a:prstGeom prst="rect">
            <a:avLst/>
          </a:prstGeom>
          <a:noFill/>
          <a:ln/>
        </p:spPr>
        <p:txBody>
          <a:bodyPr wrap="square" rtlCol="0" anchor="t"/>
          <a:lstStyle/>
          <a:p>
            <a:pPr indent="0" marL="0">
              <a:lnSpc>
                <a:spcPct val="110000"/>
              </a:lnSpc>
              <a:buNone/>
            </a:pPr>
            <a:r>
              <a:rPr lang="en-US" sz="1100" dirty="0">
                <a:solidFill>
                  <a:srgbClr val="5B6270"/>
                </a:solidFill>
                <a:latin typeface="Calibri" pitchFamily="34" charset="0"/>
                <a:ea typeface="Calibri" pitchFamily="34" charset="-122"/>
                <a:cs typeface="Calibri" pitchFamily="34" charset="-120"/>
              </a:rPr>
              <a:t>IoT Security Testing Guide — phương pháp kiểm thử, dùng để xác định cách kiểm tra từng hạng mục</a:t>
            </a:r>
            <a:endParaRPr lang="en-US" sz="1100" dirty="0"/>
          </a:p>
        </p:txBody>
      </p:sp>
      <p:sp>
        <p:nvSpPr>
          <p:cNvPr id="16" name="Shape 14"/>
          <p:cNvSpPr/>
          <p:nvPr/>
        </p:nvSpPr>
        <p:spPr>
          <a:xfrm>
            <a:off x="8138160" y="1508760"/>
            <a:ext cx="3611880" cy="1965960"/>
          </a:xfrm>
          <a:prstGeom prst="roundRect">
            <a:avLst>
              <a:gd name="adj" fmla="val 3721"/>
            </a:avLst>
          </a:prstGeom>
          <a:solidFill>
            <a:srgbClr val="F4F6FB"/>
          </a:solidFill>
          <a:ln/>
        </p:spPr>
      </p:sp>
      <p:sp>
        <p:nvSpPr>
          <p:cNvPr id="17" name="Shape 15"/>
          <p:cNvSpPr/>
          <p:nvPr/>
        </p:nvSpPr>
        <p:spPr>
          <a:xfrm>
            <a:off x="8366760" y="1737360"/>
            <a:ext cx="566928" cy="566928"/>
          </a:xfrm>
          <a:prstGeom prst="ellipse">
            <a:avLst/>
          </a:prstGeom>
          <a:solidFill>
            <a:srgbClr val="1E2761"/>
          </a:solidFill>
          <a:ln/>
        </p:spPr>
      </p:sp>
      <p:sp>
        <p:nvSpPr>
          <p:cNvPr id="18" name="Text 16"/>
          <p:cNvSpPr/>
          <p:nvPr/>
        </p:nvSpPr>
        <p:spPr>
          <a:xfrm>
            <a:off x="8366760" y="1737360"/>
            <a:ext cx="566928" cy="56692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TOP10</a:t>
            </a:r>
            <a:endParaRPr lang="en-US" sz="950" dirty="0"/>
          </a:p>
        </p:txBody>
      </p:sp>
      <p:sp>
        <p:nvSpPr>
          <p:cNvPr id="19" name="Text 17"/>
          <p:cNvSpPr/>
          <p:nvPr/>
        </p:nvSpPr>
        <p:spPr>
          <a:xfrm>
            <a:off x="8366760" y="2395728"/>
            <a:ext cx="3154680" cy="3200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OWASP IoT Project</a:t>
            </a:r>
            <a:endParaRPr lang="en-US" sz="1450" dirty="0"/>
          </a:p>
        </p:txBody>
      </p:sp>
      <p:sp>
        <p:nvSpPr>
          <p:cNvPr id="20" name="Text 18"/>
          <p:cNvSpPr/>
          <p:nvPr/>
        </p:nvSpPr>
        <p:spPr>
          <a:xfrm>
            <a:off x="8366760" y="2743200"/>
            <a:ext cx="3154680" cy="640080"/>
          </a:xfrm>
          <a:prstGeom prst="rect">
            <a:avLst/>
          </a:prstGeom>
          <a:noFill/>
          <a:ln/>
        </p:spPr>
        <p:txBody>
          <a:bodyPr wrap="square" rtlCol="0" anchor="t"/>
          <a:lstStyle/>
          <a:p>
            <a:pPr indent="0" marL="0">
              <a:lnSpc>
                <a:spcPct val="110000"/>
              </a:lnSpc>
              <a:buNone/>
            </a:pPr>
            <a:r>
              <a:rPr lang="en-US" sz="1100" dirty="0">
                <a:solidFill>
                  <a:srgbClr val="5B6270"/>
                </a:solidFill>
                <a:latin typeface="Calibri" pitchFamily="34" charset="0"/>
                <a:ea typeface="Calibri" pitchFamily="34" charset="-122"/>
                <a:cs typeface="Calibri" pitchFamily="34" charset="-120"/>
              </a:rPr>
              <a:t>Tổng hợp OWASP IoT Top 10 — nhóm rủi ro phổ biến của hệ sinh thái IoT</a:t>
            </a:r>
            <a:endParaRPr lang="en-US" sz="1100" dirty="0"/>
          </a:p>
        </p:txBody>
      </p:sp>
      <p:sp>
        <p:nvSpPr>
          <p:cNvPr id="21" name="Text 19"/>
          <p:cNvSpPr/>
          <p:nvPr/>
        </p:nvSpPr>
        <p:spPr>
          <a:xfrm>
            <a:off x="548640" y="3794760"/>
            <a:ext cx="7315200" cy="320040"/>
          </a:xfrm>
          <a:prstGeom prst="rect">
            <a:avLst/>
          </a:prstGeom>
          <a:noFill/>
          <a:ln/>
        </p:spPr>
        <p:txBody>
          <a:bodyPr wrap="square" rtlCol="0" anchor="ctr"/>
          <a:lstStyle/>
          <a:p>
            <a:pPr indent="0" marL="0">
              <a:buNone/>
            </a:pPr>
            <a:r>
              <a:rPr lang="en-US" sz="1400" b="1" dirty="0">
                <a:solidFill>
                  <a:srgbClr val="24272E"/>
                </a:solidFill>
                <a:latin typeface="Cambria" pitchFamily="34" charset="0"/>
                <a:ea typeface="Cambria" pitchFamily="34" charset="-122"/>
                <a:cs typeface="Cambria" pitchFamily="34" charset="-120"/>
              </a:rPr>
              <a:t>QUY TRÌNH QUẢN LÝ RỦI RO (theo NIST SP 800-30)</a:t>
            </a:r>
            <a:endParaRPr lang="en-US" sz="1400" dirty="0"/>
          </a:p>
        </p:txBody>
      </p:sp>
      <p:sp>
        <p:nvSpPr>
          <p:cNvPr id="22" name="Shape 20"/>
          <p:cNvSpPr/>
          <p:nvPr/>
        </p:nvSpPr>
        <p:spPr>
          <a:xfrm>
            <a:off x="548640" y="4251960"/>
            <a:ext cx="2606040" cy="1417320"/>
          </a:xfrm>
          <a:prstGeom prst="roundRect">
            <a:avLst>
              <a:gd name="adj" fmla="val 5161"/>
            </a:avLst>
          </a:prstGeom>
          <a:solidFill>
            <a:srgbClr val="1E2761"/>
          </a:solidFill>
          <a:ln/>
        </p:spPr>
      </p:sp>
      <p:sp>
        <p:nvSpPr>
          <p:cNvPr id="23" name="Text 21"/>
          <p:cNvSpPr/>
          <p:nvPr/>
        </p:nvSpPr>
        <p:spPr>
          <a:xfrm>
            <a:off x="685800" y="4370832"/>
            <a:ext cx="548640" cy="457200"/>
          </a:xfrm>
          <a:prstGeom prst="rect">
            <a:avLst/>
          </a:prstGeom>
          <a:noFill/>
          <a:ln/>
        </p:spPr>
        <p:txBody>
          <a:bodyPr wrap="square" rtlCol="0" anchor="ctr"/>
          <a:lstStyle/>
          <a:p>
            <a:pPr indent="0" marL="0">
              <a:buNone/>
            </a:pPr>
            <a:r>
              <a:rPr lang="en-US" sz="2200" b="1" dirty="0">
                <a:solidFill>
                  <a:srgbClr val="CADCFC"/>
                </a:solidFill>
                <a:latin typeface="Cambria" pitchFamily="34" charset="0"/>
                <a:ea typeface="Cambria" pitchFamily="34" charset="-122"/>
                <a:cs typeface="Cambria" pitchFamily="34" charset="-120"/>
              </a:rPr>
              <a:t>1</a:t>
            </a:r>
            <a:endParaRPr lang="en-US" sz="2200" dirty="0"/>
          </a:p>
        </p:txBody>
      </p:sp>
      <p:sp>
        <p:nvSpPr>
          <p:cNvPr id="24" name="Text 22"/>
          <p:cNvSpPr/>
          <p:nvPr/>
        </p:nvSpPr>
        <p:spPr>
          <a:xfrm>
            <a:off x="685800" y="4828032"/>
            <a:ext cx="2331720" cy="731520"/>
          </a:xfrm>
          <a:prstGeom prst="rect">
            <a:avLst/>
          </a:prstGeom>
          <a:noFill/>
          <a:ln/>
        </p:spPr>
        <p:txBody>
          <a:bodyPr wrap="square" rtlCol="0" anchor="t"/>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Nhận diện tài sản</a:t>
            </a:r>
            <a:endParaRPr lang="en-US" sz="1150" dirty="0"/>
          </a:p>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&amp; mối đe dọa</a:t>
            </a:r>
            <a:endParaRPr lang="en-US" sz="1150" dirty="0"/>
          </a:p>
        </p:txBody>
      </p:sp>
      <p:sp>
        <p:nvSpPr>
          <p:cNvPr id="25" name="Shape 23"/>
          <p:cNvSpPr/>
          <p:nvPr/>
        </p:nvSpPr>
        <p:spPr>
          <a:xfrm rot="5400000">
            <a:off x="3172968" y="4846320"/>
            <a:ext cx="201168" cy="201168"/>
          </a:xfrm>
          <a:prstGeom prst="triangle">
            <a:avLst/>
          </a:prstGeom>
          <a:solidFill>
            <a:srgbClr val="5B6270"/>
          </a:solidFill>
          <a:ln/>
        </p:spPr>
      </p:sp>
      <p:sp>
        <p:nvSpPr>
          <p:cNvPr id="26" name="Shape 24"/>
          <p:cNvSpPr/>
          <p:nvPr/>
        </p:nvSpPr>
        <p:spPr>
          <a:xfrm>
            <a:off x="3410712" y="4251960"/>
            <a:ext cx="2606040" cy="1417320"/>
          </a:xfrm>
          <a:prstGeom prst="roundRect">
            <a:avLst>
              <a:gd name="adj" fmla="val 5161"/>
            </a:avLst>
          </a:prstGeom>
          <a:solidFill>
            <a:srgbClr val="CADCFC"/>
          </a:solidFill>
          <a:ln/>
        </p:spPr>
      </p:sp>
      <p:sp>
        <p:nvSpPr>
          <p:cNvPr id="27" name="Text 25"/>
          <p:cNvSpPr/>
          <p:nvPr/>
        </p:nvSpPr>
        <p:spPr>
          <a:xfrm>
            <a:off x="3547872" y="4370832"/>
            <a:ext cx="548640" cy="45720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2</a:t>
            </a:r>
            <a:endParaRPr lang="en-US" sz="2200" dirty="0"/>
          </a:p>
        </p:txBody>
      </p:sp>
      <p:sp>
        <p:nvSpPr>
          <p:cNvPr id="28" name="Text 26"/>
          <p:cNvSpPr/>
          <p:nvPr/>
        </p:nvSpPr>
        <p:spPr>
          <a:xfrm>
            <a:off x="3547872" y="4828032"/>
            <a:ext cx="2331720" cy="731520"/>
          </a:xfrm>
          <a:prstGeom prst="rect">
            <a:avLst/>
          </a:prstGeom>
          <a:noFill/>
          <a:ln/>
        </p:spPr>
        <p:txBody>
          <a:bodyPr wrap="square" rtlCol="0" anchor="t"/>
          <a:lstStyle/>
          <a:p>
            <a:pPr indent="0" marL="0">
              <a:lnSpc>
                <a:spcPct val="105000"/>
              </a:lnSpc>
              <a:buNone/>
            </a:pPr>
            <a:r>
              <a:rPr lang="en-US" sz="1150" b="1" dirty="0">
                <a:solidFill>
                  <a:srgbClr val="1E2761"/>
                </a:solidFill>
                <a:latin typeface="Calibri" pitchFamily="34" charset="0"/>
                <a:ea typeface="Calibri" pitchFamily="34" charset="-122"/>
                <a:cs typeface="Calibri" pitchFamily="34" charset="-120"/>
              </a:rPr>
              <a:t>Phân tích khả năng</a:t>
            </a:r>
            <a:endParaRPr lang="en-US" sz="1150" dirty="0"/>
          </a:p>
          <a:p>
            <a:pPr indent="0" marL="0">
              <a:lnSpc>
                <a:spcPct val="105000"/>
              </a:lnSpc>
              <a:buNone/>
            </a:pPr>
            <a:r>
              <a:rPr lang="en-US" sz="1150" b="1" dirty="0">
                <a:solidFill>
                  <a:srgbClr val="1E2761"/>
                </a:solidFill>
                <a:latin typeface="Calibri" pitchFamily="34" charset="0"/>
                <a:ea typeface="Calibri" pitchFamily="34" charset="-122"/>
                <a:cs typeface="Calibri" pitchFamily="34" charset="-120"/>
              </a:rPr>
              <a:t>&amp; mức ảnh hưởng</a:t>
            </a:r>
            <a:endParaRPr lang="en-US" sz="1150" dirty="0"/>
          </a:p>
        </p:txBody>
      </p:sp>
      <p:sp>
        <p:nvSpPr>
          <p:cNvPr id="29" name="Shape 27"/>
          <p:cNvSpPr/>
          <p:nvPr/>
        </p:nvSpPr>
        <p:spPr>
          <a:xfrm rot="5400000">
            <a:off x="6035040" y="4846320"/>
            <a:ext cx="201168" cy="201168"/>
          </a:xfrm>
          <a:prstGeom prst="triangle">
            <a:avLst/>
          </a:prstGeom>
          <a:solidFill>
            <a:srgbClr val="5B6270"/>
          </a:solidFill>
          <a:ln/>
        </p:spPr>
      </p:sp>
      <p:sp>
        <p:nvSpPr>
          <p:cNvPr id="30" name="Shape 28"/>
          <p:cNvSpPr/>
          <p:nvPr/>
        </p:nvSpPr>
        <p:spPr>
          <a:xfrm>
            <a:off x="6272784" y="4251960"/>
            <a:ext cx="2606040" cy="1417320"/>
          </a:xfrm>
          <a:prstGeom prst="roundRect">
            <a:avLst>
              <a:gd name="adj" fmla="val 5161"/>
            </a:avLst>
          </a:prstGeom>
          <a:solidFill>
            <a:srgbClr val="1E2761"/>
          </a:solidFill>
          <a:ln/>
        </p:spPr>
      </p:sp>
      <p:sp>
        <p:nvSpPr>
          <p:cNvPr id="31" name="Text 29"/>
          <p:cNvSpPr/>
          <p:nvPr/>
        </p:nvSpPr>
        <p:spPr>
          <a:xfrm>
            <a:off x="6409944" y="4370832"/>
            <a:ext cx="548640" cy="457200"/>
          </a:xfrm>
          <a:prstGeom prst="rect">
            <a:avLst/>
          </a:prstGeom>
          <a:noFill/>
          <a:ln/>
        </p:spPr>
        <p:txBody>
          <a:bodyPr wrap="square" rtlCol="0" anchor="ctr"/>
          <a:lstStyle/>
          <a:p>
            <a:pPr indent="0" marL="0">
              <a:buNone/>
            </a:pPr>
            <a:r>
              <a:rPr lang="en-US" sz="2200" b="1" dirty="0">
                <a:solidFill>
                  <a:srgbClr val="CADCFC"/>
                </a:solidFill>
                <a:latin typeface="Cambria" pitchFamily="34" charset="0"/>
                <a:ea typeface="Cambria" pitchFamily="34" charset="-122"/>
                <a:cs typeface="Cambria" pitchFamily="34" charset="-120"/>
              </a:rPr>
              <a:t>3</a:t>
            </a:r>
            <a:endParaRPr lang="en-US" sz="2200" dirty="0"/>
          </a:p>
        </p:txBody>
      </p:sp>
      <p:sp>
        <p:nvSpPr>
          <p:cNvPr id="32" name="Text 30"/>
          <p:cNvSpPr/>
          <p:nvPr/>
        </p:nvSpPr>
        <p:spPr>
          <a:xfrm>
            <a:off x="6409944" y="4828032"/>
            <a:ext cx="2331720" cy="731520"/>
          </a:xfrm>
          <a:prstGeom prst="rect">
            <a:avLst/>
          </a:prstGeom>
          <a:noFill/>
          <a:ln/>
        </p:spPr>
        <p:txBody>
          <a:bodyPr wrap="square" rtlCol="0" anchor="t"/>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Đánh giá &amp; xếp hạng</a:t>
            </a:r>
            <a:endParaRPr lang="en-US" sz="1150" dirty="0"/>
          </a:p>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mức độ rủi ro</a:t>
            </a:r>
            <a:endParaRPr lang="en-US" sz="1150" dirty="0"/>
          </a:p>
        </p:txBody>
      </p:sp>
      <p:sp>
        <p:nvSpPr>
          <p:cNvPr id="33" name="Shape 31"/>
          <p:cNvSpPr/>
          <p:nvPr/>
        </p:nvSpPr>
        <p:spPr>
          <a:xfrm rot="5400000">
            <a:off x="8897112" y="4846320"/>
            <a:ext cx="201168" cy="201168"/>
          </a:xfrm>
          <a:prstGeom prst="triangle">
            <a:avLst/>
          </a:prstGeom>
          <a:solidFill>
            <a:srgbClr val="5B6270"/>
          </a:solidFill>
          <a:ln/>
        </p:spPr>
      </p:sp>
      <p:sp>
        <p:nvSpPr>
          <p:cNvPr id="34" name="Shape 32"/>
          <p:cNvSpPr/>
          <p:nvPr/>
        </p:nvSpPr>
        <p:spPr>
          <a:xfrm>
            <a:off x="9134856" y="4251960"/>
            <a:ext cx="2606040" cy="1417320"/>
          </a:xfrm>
          <a:prstGeom prst="roundRect">
            <a:avLst>
              <a:gd name="adj" fmla="val 5161"/>
            </a:avLst>
          </a:prstGeom>
          <a:solidFill>
            <a:srgbClr val="CADCFC"/>
          </a:solidFill>
          <a:ln/>
        </p:spPr>
      </p:sp>
      <p:sp>
        <p:nvSpPr>
          <p:cNvPr id="35" name="Text 33"/>
          <p:cNvSpPr/>
          <p:nvPr/>
        </p:nvSpPr>
        <p:spPr>
          <a:xfrm>
            <a:off x="9272016" y="4370832"/>
            <a:ext cx="548640" cy="45720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4</a:t>
            </a:r>
            <a:endParaRPr lang="en-US" sz="2200" dirty="0"/>
          </a:p>
        </p:txBody>
      </p:sp>
      <p:sp>
        <p:nvSpPr>
          <p:cNvPr id="36" name="Text 34"/>
          <p:cNvSpPr/>
          <p:nvPr/>
        </p:nvSpPr>
        <p:spPr>
          <a:xfrm>
            <a:off x="9272016" y="4828032"/>
            <a:ext cx="2331720" cy="731520"/>
          </a:xfrm>
          <a:prstGeom prst="rect">
            <a:avLst/>
          </a:prstGeom>
          <a:noFill/>
          <a:ln/>
        </p:spPr>
        <p:txBody>
          <a:bodyPr wrap="square" rtlCol="0" anchor="t"/>
          <a:lstStyle/>
          <a:p>
            <a:pPr indent="0" marL="0">
              <a:lnSpc>
                <a:spcPct val="105000"/>
              </a:lnSpc>
              <a:buNone/>
            </a:pPr>
            <a:r>
              <a:rPr lang="en-US" sz="1150" b="1" dirty="0">
                <a:solidFill>
                  <a:srgbClr val="1E2761"/>
                </a:solidFill>
                <a:latin typeface="Calibri" pitchFamily="34" charset="0"/>
                <a:ea typeface="Calibri" pitchFamily="34" charset="-122"/>
                <a:cs typeface="Calibri" pitchFamily="34" charset="-120"/>
              </a:rPr>
              <a:t>Lựa chọn chiến lược</a:t>
            </a:r>
            <a:endParaRPr lang="en-US" sz="1150" dirty="0"/>
          </a:p>
          <a:p>
            <a:pPr indent="0" marL="0">
              <a:lnSpc>
                <a:spcPct val="105000"/>
              </a:lnSpc>
              <a:buNone/>
            </a:pPr>
            <a:r>
              <a:rPr lang="en-US" sz="1150" b="1" dirty="0">
                <a:solidFill>
                  <a:srgbClr val="1E2761"/>
                </a:solidFill>
                <a:latin typeface="Calibri" pitchFamily="34" charset="0"/>
                <a:ea typeface="Calibri" pitchFamily="34" charset="-122"/>
                <a:cs typeface="Calibri" pitchFamily="34" charset="-120"/>
              </a:rPr>
              <a:t>xử lý phù hợp</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E2761"/>
                </a:solidFill>
                <a:latin typeface="Calibri" pitchFamily="34" charset="0"/>
                <a:ea typeface="Calibri" pitchFamily="34" charset="-122"/>
                <a:cs typeface="Calibri" pitchFamily="34" charset="-120"/>
              </a:rPr>
              <a:t>PHƯƠNG PHÁP THỰC HIỆN</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indent="0" marL="0">
              <a:buNone/>
            </a:pPr>
            <a:r>
              <a:rPr lang="en-US" sz="2800" b="1" dirty="0">
                <a:solidFill>
                  <a:srgbClr val="24272E"/>
                </a:solidFill>
                <a:latin typeface="Cambria" pitchFamily="34" charset="0"/>
                <a:ea typeface="Cambria" pitchFamily="34" charset="-122"/>
                <a:cs typeface="Cambria" pitchFamily="34" charset="-120"/>
              </a:rPr>
              <a:t>Mô hình hệ thống khảo sát và quy trình 6 bước</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indent="0" marL="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600200"/>
            <a:ext cx="2423160" cy="1051560"/>
          </a:xfrm>
          <a:prstGeom prst="roundRect">
            <a:avLst>
              <a:gd name="adj" fmla="val 6957"/>
            </a:avLst>
          </a:prstGeom>
          <a:solidFill>
            <a:srgbClr val="CADCFC"/>
          </a:solidFill>
          <a:ln/>
        </p:spPr>
      </p:sp>
      <p:sp>
        <p:nvSpPr>
          <p:cNvPr id="7" name="Text 5"/>
          <p:cNvSpPr/>
          <p:nvPr/>
        </p:nvSpPr>
        <p:spPr>
          <a:xfrm>
            <a:off x="640080" y="1600200"/>
            <a:ext cx="2240280" cy="1051560"/>
          </a:xfrm>
          <a:prstGeom prst="rect">
            <a:avLst/>
          </a:prstGeom>
          <a:noFill/>
          <a:ln/>
        </p:spPr>
        <p:txBody>
          <a:bodyPr wrap="square" rtlCol="0" anchor="ctr"/>
          <a:lstStyle/>
          <a:p>
            <a:pPr algn="ctr" indent="0" marL="0">
              <a:lnSpc>
                <a:spcPct val="105000"/>
              </a:lnSpc>
              <a:buNone/>
            </a:pPr>
            <a:r>
              <a:rPr lang="en-US" sz="1200" b="1" dirty="0">
                <a:solidFill>
                  <a:srgbClr val="1E2761"/>
                </a:solidFill>
                <a:latin typeface="Calibri" pitchFamily="34" charset="0"/>
                <a:ea typeface="Calibri" pitchFamily="34" charset="-122"/>
                <a:cs typeface="Calibri" pitchFamily="34" charset="-120"/>
              </a:rPr>
              <a:t>Cảm biến / Camera IP</a:t>
            </a:r>
            <a:endParaRPr lang="en-US" sz="1200" dirty="0"/>
          </a:p>
          <a:p>
            <a:pPr algn="ctr" indent="0" marL="0">
              <a:lnSpc>
                <a:spcPct val="105000"/>
              </a:lnSpc>
              <a:buNone/>
            </a:pPr>
            <a:r>
              <a:rPr lang="en-US" sz="1200" b="1" dirty="0">
                <a:solidFill>
                  <a:srgbClr val="1E2761"/>
                </a:solidFill>
                <a:latin typeface="Calibri" pitchFamily="34" charset="0"/>
                <a:ea typeface="Calibri" pitchFamily="34" charset="-122"/>
                <a:cs typeface="Calibri" pitchFamily="34" charset="-120"/>
              </a:rPr>
              <a:t>/ Khóa cửa</a:t>
            </a:r>
            <a:endParaRPr lang="en-US" sz="1200" dirty="0"/>
          </a:p>
        </p:txBody>
      </p:sp>
      <p:sp>
        <p:nvSpPr>
          <p:cNvPr id="8" name="Shape 6"/>
          <p:cNvSpPr/>
          <p:nvPr/>
        </p:nvSpPr>
        <p:spPr>
          <a:xfrm>
            <a:off x="2999232" y="1965960"/>
            <a:ext cx="329184" cy="320040"/>
          </a:xfrm>
          <a:prstGeom prst="rightArrow">
            <a:avLst/>
          </a:prstGeom>
          <a:solidFill>
            <a:srgbClr val="5B6270"/>
          </a:solidFill>
          <a:ln/>
        </p:spPr>
      </p:sp>
      <p:sp>
        <p:nvSpPr>
          <p:cNvPr id="9" name="Shape 7"/>
          <p:cNvSpPr/>
          <p:nvPr/>
        </p:nvSpPr>
        <p:spPr>
          <a:xfrm>
            <a:off x="3355848" y="1600200"/>
            <a:ext cx="2423160" cy="1051560"/>
          </a:xfrm>
          <a:prstGeom prst="roundRect">
            <a:avLst>
              <a:gd name="adj" fmla="val 6957"/>
            </a:avLst>
          </a:prstGeom>
          <a:solidFill>
            <a:srgbClr val="1E2761"/>
          </a:solidFill>
          <a:ln/>
        </p:spPr>
      </p:sp>
      <p:sp>
        <p:nvSpPr>
          <p:cNvPr id="10" name="Text 8"/>
          <p:cNvSpPr/>
          <p:nvPr/>
        </p:nvSpPr>
        <p:spPr>
          <a:xfrm>
            <a:off x="3447288" y="1600200"/>
            <a:ext cx="2240280" cy="1051560"/>
          </a:xfrm>
          <a:prstGeom prst="rect">
            <a:avLst/>
          </a:prstGeom>
          <a:noFill/>
          <a:ln/>
        </p:spPr>
        <p:txBody>
          <a:bodyPr wrap="square"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Gateway</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(Node-RED, Wi-Fi nội bộ)</a:t>
            </a:r>
            <a:endParaRPr lang="en-US" sz="1200" dirty="0"/>
          </a:p>
        </p:txBody>
      </p:sp>
      <p:sp>
        <p:nvSpPr>
          <p:cNvPr id="11" name="Shape 9"/>
          <p:cNvSpPr/>
          <p:nvPr/>
        </p:nvSpPr>
        <p:spPr>
          <a:xfrm>
            <a:off x="5806440" y="1965960"/>
            <a:ext cx="329184" cy="320040"/>
          </a:xfrm>
          <a:prstGeom prst="rightArrow">
            <a:avLst/>
          </a:prstGeom>
          <a:solidFill>
            <a:srgbClr val="5B6270"/>
          </a:solidFill>
          <a:ln/>
        </p:spPr>
      </p:sp>
      <p:sp>
        <p:nvSpPr>
          <p:cNvPr id="12" name="Shape 10"/>
          <p:cNvSpPr/>
          <p:nvPr/>
        </p:nvSpPr>
        <p:spPr>
          <a:xfrm>
            <a:off x="6163056" y="1600200"/>
            <a:ext cx="2423160" cy="1051560"/>
          </a:xfrm>
          <a:prstGeom prst="roundRect">
            <a:avLst>
              <a:gd name="adj" fmla="val 6957"/>
            </a:avLst>
          </a:prstGeom>
          <a:solidFill>
            <a:srgbClr val="1E2761"/>
          </a:solidFill>
          <a:ln/>
        </p:spPr>
      </p:sp>
      <p:sp>
        <p:nvSpPr>
          <p:cNvPr id="13" name="Text 11"/>
          <p:cNvSpPr/>
          <p:nvPr/>
        </p:nvSpPr>
        <p:spPr>
          <a:xfrm>
            <a:off x="6254496" y="1600200"/>
            <a:ext cx="2240280" cy="1051560"/>
          </a:xfrm>
          <a:prstGeom prst="rect">
            <a:avLst/>
          </a:prstGeom>
          <a:noFill/>
          <a:ln/>
        </p:spPr>
        <p:txBody>
          <a:bodyPr wrap="square"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Dashboard</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trên Cloud</a:t>
            </a:r>
            <a:endParaRPr lang="en-US" sz="1200" dirty="0"/>
          </a:p>
        </p:txBody>
      </p:sp>
      <p:sp>
        <p:nvSpPr>
          <p:cNvPr id="14" name="Shape 12"/>
          <p:cNvSpPr/>
          <p:nvPr/>
        </p:nvSpPr>
        <p:spPr>
          <a:xfrm>
            <a:off x="8613648" y="1965960"/>
            <a:ext cx="329184" cy="320040"/>
          </a:xfrm>
          <a:prstGeom prst="rightArrow">
            <a:avLst/>
          </a:prstGeom>
          <a:solidFill>
            <a:srgbClr val="5B6270"/>
          </a:solidFill>
          <a:ln/>
        </p:spPr>
      </p:sp>
      <p:sp>
        <p:nvSpPr>
          <p:cNvPr id="15" name="Shape 13"/>
          <p:cNvSpPr/>
          <p:nvPr/>
        </p:nvSpPr>
        <p:spPr>
          <a:xfrm>
            <a:off x="8970264" y="1600200"/>
            <a:ext cx="2423160" cy="1051560"/>
          </a:xfrm>
          <a:prstGeom prst="roundRect">
            <a:avLst>
              <a:gd name="adj" fmla="val 6957"/>
            </a:avLst>
          </a:prstGeom>
          <a:solidFill>
            <a:srgbClr val="CADCFC"/>
          </a:solidFill>
          <a:ln/>
        </p:spPr>
      </p:sp>
      <p:sp>
        <p:nvSpPr>
          <p:cNvPr id="16" name="Text 14"/>
          <p:cNvSpPr/>
          <p:nvPr/>
        </p:nvSpPr>
        <p:spPr>
          <a:xfrm>
            <a:off x="9061704" y="1600200"/>
            <a:ext cx="2240280" cy="1051560"/>
          </a:xfrm>
          <a:prstGeom prst="rect">
            <a:avLst/>
          </a:prstGeom>
          <a:noFill/>
          <a:ln/>
        </p:spPr>
        <p:txBody>
          <a:bodyPr wrap="square" rtlCol="0" anchor="ctr"/>
          <a:lstStyle/>
          <a:p>
            <a:pPr algn="ctr" indent="0" marL="0">
              <a:lnSpc>
                <a:spcPct val="105000"/>
              </a:lnSpc>
              <a:buNone/>
            </a:pPr>
            <a:r>
              <a:rPr lang="en-US" sz="1200" b="1" dirty="0">
                <a:solidFill>
                  <a:srgbClr val="1E2761"/>
                </a:solidFill>
                <a:latin typeface="Calibri" pitchFamily="34" charset="0"/>
                <a:ea typeface="Calibri" pitchFamily="34" charset="-122"/>
                <a:cs typeface="Calibri" pitchFamily="34" charset="-120"/>
              </a:rPr>
              <a:t>Quản trị viên</a:t>
            </a:r>
            <a:endParaRPr lang="en-US" sz="1200" dirty="0"/>
          </a:p>
          <a:p>
            <a:pPr algn="ctr" indent="0" marL="0">
              <a:lnSpc>
                <a:spcPct val="105000"/>
              </a:lnSpc>
              <a:buNone/>
            </a:pPr>
            <a:r>
              <a:rPr lang="en-US" sz="1200" b="1" dirty="0">
                <a:solidFill>
                  <a:srgbClr val="1E2761"/>
                </a:solidFill>
                <a:latin typeface="Calibri" pitchFamily="34" charset="0"/>
                <a:ea typeface="Calibri" pitchFamily="34" charset="-122"/>
                <a:cs typeface="Calibri" pitchFamily="34" charset="-120"/>
              </a:rPr>
              <a:t>(Mobile App)</a:t>
            </a:r>
            <a:endParaRPr lang="en-US" sz="1200" dirty="0"/>
          </a:p>
        </p:txBody>
      </p:sp>
      <p:sp>
        <p:nvSpPr>
          <p:cNvPr id="17" name="Text 15"/>
          <p:cNvSpPr/>
          <p:nvPr/>
        </p:nvSpPr>
        <p:spPr>
          <a:xfrm>
            <a:off x="548640" y="2761488"/>
            <a:ext cx="10515600" cy="320040"/>
          </a:xfrm>
          <a:prstGeom prst="rect">
            <a:avLst/>
          </a:prstGeom>
          <a:noFill/>
          <a:ln/>
        </p:spPr>
        <p:txBody>
          <a:bodyPr wrap="square" rtlCol="0" anchor="ctr"/>
          <a:lstStyle/>
          <a:p>
            <a:pPr indent="0" marL="0">
              <a:buNone/>
            </a:pPr>
            <a:r>
              <a:rPr lang="en-US" sz="1150" i="1" dirty="0">
                <a:solidFill>
                  <a:srgbClr val="5B6270"/>
                </a:solidFill>
                <a:latin typeface="Calibri" pitchFamily="34" charset="0"/>
                <a:ea typeface="Calibri" pitchFamily="34" charset="-122"/>
                <a:cs typeface="Calibri" pitchFamily="34" charset="-120"/>
              </a:rPr>
              <a:t>Router Wi-Fi đóng vai trò trung gian kết nối toàn bộ mạng nội bộ với Internet.</a:t>
            </a:r>
            <a:endParaRPr lang="en-US" sz="1150" dirty="0"/>
          </a:p>
        </p:txBody>
      </p:sp>
      <p:sp>
        <p:nvSpPr>
          <p:cNvPr id="18" name="Text 16"/>
          <p:cNvSpPr/>
          <p:nvPr/>
        </p:nvSpPr>
        <p:spPr>
          <a:xfrm>
            <a:off x="548640" y="3246120"/>
            <a:ext cx="5486400" cy="320040"/>
          </a:xfrm>
          <a:prstGeom prst="rect">
            <a:avLst/>
          </a:prstGeom>
          <a:noFill/>
          <a:ln/>
        </p:spPr>
        <p:txBody>
          <a:bodyPr wrap="square" rtlCol="0" anchor="ctr"/>
          <a:lstStyle/>
          <a:p>
            <a:pPr indent="0" marL="0">
              <a:buNone/>
            </a:pPr>
            <a:r>
              <a:rPr lang="en-US" sz="1400" b="1" dirty="0">
                <a:solidFill>
                  <a:srgbClr val="24272E"/>
                </a:solidFill>
                <a:latin typeface="Cambria" pitchFamily="34" charset="0"/>
                <a:ea typeface="Cambria" pitchFamily="34" charset="-122"/>
                <a:cs typeface="Cambria" pitchFamily="34" charset="-120"/>
              </a:rPr>
              <a:t>QUY TRÌNH THỰC HIỆN 6 BƯỚC</a:t>
            </a:r>
            <a:endParaRPr lang="en-US" sz="1400" dirty="0"/>
          </a:p>
        </p:txBody>
      </p:sp>
      <p:sp>
        <p:nvSpPr>
          <p:cNvPr id="19" name="Shape 17"/>
          <p:cNvSpPr/>
          <p:nvPr/>
        </p:nvSpPr>
        <p:spPr>
          <a:xfrm>
            <a:off x="548640" y="3639312"/>
            <a:ext cx="5367528" cy="1234440"/>
          </a:xfrm>
          <a:prstGeom prst="roundRect">
            <a:avLst>
              <a:gd name="adj" fmla="val 5185"/>
            </a:avLst>
          </a:prstGeom>
          <a:solidFill>
            <a:srgbClr val="F4F6FB"/>
          </a:solidFill>
          <a:ln/>
        </p:spPr>
      </p:sp>
      <p:sp>
        <p:nvSpPr>
          <p:cNvPr id="20" name="Shape 18"/>
          <p:cNvSpPr/>
          <p:nvPr/>
        </p:nvSpPr>
        <p:spPr>
          <a:xfrm>
            <a:off x="713232" y="4055364"/>
            <a:ext cx="402336" cy="402336"/>
          </a:xfrm>
          <a:prstGeom prst="ellipse">
            <a:avLst/>
          </a:prstGeom>
          <a:solidFill>
            <a:srgbClr val="1E2761"/>
          </a:solidFill>
          <a:ln/>
        </p:spPr>
      </p:sp>
      <p:sp>
        <p:nvSpPr>
          <p:cNvPr id="21" name="Text 19"/>
          <p:cNvSpPr/>
          <p:nvPr/>
        </p:nvSpPr>
        <p:spPr>
          <a:xfrm>
            <a:off x="713232" y="4055364"/>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B1</a:t>
            </a:r>
            <a:endParaRPr lang="en-US" sz="1100" dirty="0"/>
          </a:p>
        </p:txBody>
      </p:sp>
      <p:sp>
        <p:nvSpPr>
          <p:cNvPr id="22" name="Text 20"/>
          <p:cNvSpPr/>
          <p:nvPr/>
        </p:nvSpPr>
        <p:spPr>
          <a:xfrm>
            <a:off x="1234440" y="3639312"/>
            <a:ext cx="4498848" cy="1234440"/>
          </a:xfrm>
          <a:prstGeom prst="rect">
            <a:avLst/>
          </a:prstGeom>
          <a:noFill/>
          <a:ln/>
        </p:spPr>
        <p:txBody>
          <a:bodyPr wrap="square" rtlCol="0" anchor="ctr"/>
          <a:lstStyle/>
          <a:p>
            <a:pPr indent="0" marL="0">
              <a:lnSpc>
                <a:spcPct val="105000"/>
              </a:lnSpc>
              <a:buNone/>
            </a:pPr>
            <a:r>
              <a:rPr lang="en-US" sz="1150" dirty="0">
                <a:solidFill>
                  <a:srgbClr val="24272E"/>
                </a:solidFill>
                <a:latin typeface="Calibri" pitchFamily="34" charset="0"/>
                <a:ea typeface="Calibri" pitchFamily="34" charset="-122"/>
                <a:cs typeface="Calibri" pitchFamily="34" charset="-120"/>
              </a:rPr>
              <a:t>Chọn hệ thống khảo sát: mô hình phòng Lab CNTT quy mô nhỏ</a:t>
            </a:r>
            <a:endParaRPr lang="en-US" sz="1150" dirty="0"/>
          </a:p>
        </p:txBody>
      </p:sp>
      <p:sp>
        <p:nvSpPr>
          <p:cNvPr id="23" name="Shape 21"/>
          <p:cNvSpPr/>
          <p:nvPr/>
        </p:nvSpPr>
        <p:spPr>
          <a:xfrm>
            <a:off x="6099048" y="3639312"/>
            <a:ext cx="5367528" cy="1234440"/>
          </a:xfrm>
          <a:prstGeom prst="roundRect">
            <a:avLst>
              <a:gd name="adj" fmla="val 5185"/>
            </a:avLst>
          </a:prstGeom>
          <a:solidFill>
            <a:srgbClr val="F4F6FB"/>
          </a:solidFill>
          <a:ln/>
        </p:spPr>
      </p:sp>
      <p:sp>
        <p:nvSpPr>
          <p:cNvPr id="24" name="Shape 22"/>
          <p:cNvSpPr/>
          <p:nvPr/>
        </p:nvSpPr>
        <p:spPr>
          <a:xfrm>
            <a:off x="6263640" y="4055364"/>
            <a:ext cx="402336" cy="402336"/>
          </a:xfrm>
          <a:prstGeom prst="ellipse">
            <a:avLst/>
          </a:prstGeom>
          <a:solidFill>
            <a:srgbClr val="1E2761"/>
          </a:solidFill>
          <a:ln/>
        </p:spPr>
      </p:sp>
      <p:sp>
        <p:nvSpPr>
          <p:cNvPr id="25" name="Text 23"/>
          <p:cNvSpPr/>
          <p:nvPr/>
        </p:nvSpPr>
        <p:spPr>
          <a:xfrm>
            <a:off x="6263640" y="4055364"/>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B2</a:t>
            </a:r>
            <a:endParaRPr lang="en-US" sz="1100" dirty="0"/>
          </a:p>
        </p:txBody>
      </p:sp>
      <p:sp>
        <p:nvSpPr>
          <p:cNvPr id="26" name="Text 24"/>
          <p:cNvSpPr/>
          <p:nvPr/>
        </p:nvSpPr>
        <p:spPr>
          <a:xfrm>
            <a:off x="6784848" y="3639312"/>
            <a:ext cx="4498848" cy="1234440"/>
          </a:xfrm>
          <a:prstGeom prst="rect">
            <a:avLst/>
          </a:prstGeom>
          <a:noFill/>
          <a:ln/>
        </p:spPr>
        <p:txBody>
          <a:bodyPr wrap="square" rtlCol="0" anchor="ctr"/>
          <a:lstStyle/>
          <a:p>
            <a:pPr indent="0" marL="0">
              <a:lnSpc>
                <a:spcPct val="105000"/>
              </a:lnSpc>
              <a:buNone/>
            </a:pPr>
            <a:r>
              <a:rPr lang="en-US" sz="1150" dirty="0">
                <a:solidFill>
                  <a:srgbClr val="24272E"/>
                </a:solidFill>
                <a:latin typeface="Calibri" pitchFamily="34" charset="0"/>
                <a:ea typeface="Calibri" pitchFamily="34" charset="-122"/>
                <a:cs typeface="Calibri" pitchFamily="34" charset="-120"/>
              </a:rPr>
              <a:t>Liệt kê tài sản: thiết bị, dữ liệu, tài khoản, mạng, dịch vụ cloud</a:t>
            </a:r>
            <a:endParaRPr lang="en-US" sz="1150" dirty="0"/>
          </a:p>
        </p:txBody>
      </p:sp>
      <p:sp>
        <p:nvSpPr>
          <p:cNvPr id="27" name="Shape 25"/>
          <p:cNvSpPr/>
          <p:nvPr/>
        </p:nvSpPr>
        <p:spPr>
          <a:xfrm>
            <a:off x="548640" y="5010912"/>
            <a:ext cx="5367528" cy="1234440"/>
          </a:xfrm>
          <a:prstGeom prst="roundRect">
            <a:avLst>
              <a:gd name="adj" fmla="val 5185"/>
            </a:avLst>
          </a:prstGeom>
          <a:solidFill>
            <a:srgbClr val="F4F6FB"/>
          </a:solidFill>
          <a:ln/>
        </p:spPr>
      </p:sp>
      <p:sp>
        <p:nvSpPr>
          <p:cNvPr id="28" name="Shape 26"/>
          <p:cNvSpPr/>
          <p:nvPr/>
        </p:nvSpPr>
        <p:spPr>
          <a:xfrm>
            <a:off x="713232" y="5426964"/>
            <a:ext cx="402336" cy="402336"/>
          </a:xfrm>
          <a:prstGeom prst="ellipse">
            <a:avLst/>
          </a:prstGeom>
          <a:solidFill>
            <a:srgbClr val="1E2761"/>
          </a:solidFill>
          <a:ln/>
        </p:spPr>
      </p:sp>
      <p:sp>
        <p:nvSpPr>
          <p:cNvPr id="29" name="Text 27"/>
          <p:cNvSpPr/>
          <p:nvPr/>
        </p:nvSpPr>
        <p:spPr>
          <a:xfrm>
            <a:off x="713232" y="5426964"/>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B3</a:t>
            </a:r>
            <a:endParaRPr lang="en-US" sz="1100" dirty="0"/>
          </a:p>
        </p:txBody>
      </p:sp>
      <p:sp>
        <p:nvSpPr>
          <p:cNvPr id="30" name="Text 28"/>
          <p:cNvSpPr/>
          <p:nvPr/>
        </p:nvSpPr>
        <p:spPr>
          <a:xfrm>
            <a:off x="1234440" y="5010912"/>
            <a:ext cx="4498848" cy="1234440"/>
          </a:xfrm>
          <a:prstGeom prst="rect">
            <a:avLst/>
          </a:prstGeom>
          <a:noFill/>
          <a:ln/>
        </p:spPr>
        <p:txBody>
          <a:bodyPr wrap="square" rtlCol="0" anchor="ctr"/>
          <a:lstStyle/>
          <a:p>
            <a:pPr indent="0" marL="0">
              <a:lnSpc>
                <a:spcPct val="105000"/>
              </a:lnSpc>
              <a:buNone/>
            </a:pPr>
            <a:r>
              <a:rPr lang="en-US" sz="1150" dirty="0">
                <a:solidFill>
                  <a:srgbClr val="24272E"/>
                </a:solidFill>
                <a:latin typeface="Calibri" pitchFamily="34" charset="0"/>
                <a:ea typeface="Calibri" pitchFamily="34" charset="-122"/>
                <a:cs typeface="Calibri" pitchFamily="34" charset="-120"/>
              </a:rPr>
              <a:t>Xác định mối đe dọa &amp; lỗ hổng theo OWASP IoT Top 10</a:t>
            </a:r>
            <a:endParaRPr lang="en-US" sz="1150" dirty="0"/>
          </a:p>
        </p:txBody>
      </p:sp>
      <p:sp>
        <p:nvSpPr>
          <p:cNvPr id="31" name="Shape 29"/>
          <p:cNvSpPr/>
          <p:nvPr/>
        </p:nvSpPr>
        <p:spPr>
          <a:xfrm>
            <a:off x="6099048" y="5010912"/>
            <a:ext cx="5367528" cy="1234440"/>
          </a:xfrm>
          <a:prstGeom prst="roundRect">
            <a:avLst>
              <a:gd name="adj" fmla="val 5185"/>
            </a:avLst>
          </a:prstGeom>
          <a:solidFill>
            <a:srgbClr val="F4F6FB"/>
          </a:solidFill>
          <a:ln/>
        </p:spPr>
      </p:sp>
      <p:sp>
        <p:nvSpPr>
          <p:cNvPr id="32" name="Shape 30"/>
          <p:cNvSpPr/>
          <p:nvPr/>
        </p:nvSpPr>
        <p:spPr>
          <a:xfrm>
            <a:off x="6263640" y="5426964"/>
            <a:ext cx="402336" cy="402336"/>
          </a:xfrm>
          <a:prstGeom prst="ellipse">
            <a:avLst/>
          </a:prstGeom>
          <a:solidFill>
            <a:srgbClr val="1E2761"/>
          </a:solidFill>
          <a:ln/>
        </p:spPr>
      </p:sp>
      <p:sp>
        <p:nvSpPr>
          <p:cNvPr id="33" name="Text 31"/>
          <p:cNvSpPr/>
          <p:nvPr/>
        </p:nvSpPr>
        <p:spPr>
          <a:xfrm>
            <a:off x="6263640" y="5426964"/>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B4</a:t>
            </a:r>
            <a:endParaRPr lang="en-US" sz="1100" dirty="0"/>
          </a:p>
        </p:txBody>
      </p:sp>
      <p:sp>
        <p:nvSpPr>
          <p:cNvPr id="34" name="Text 32"/>
          <p:cNvSpPr/>
          <p:nvPr/>
        </p:nvSpPr>
        <p:spPr>
          <a:xfrm>
            <a:off x="6784848" y="5010912"/>
            <a:ext cx="4498848" cy="1234440"/>
          </a:xfrm>
          <a:prstGeom prst="rect">
            <a:avLst/>
          </a:prstGeom>
          <a:noFill/>
          <a:ln/>
        </p:spPr>
        <p:txBody>
          <a:bodyPr wrap="square" rtlCol="0" anchor="ctr"/>
          <a:lstStyle/>
          <a:p>
            <a:pPr indent="0" marL="0">
              <a:lnSpc>
                <a:spcPct val="105000"/>
              </a:lnSpc>
              <a:buNone/>
            </a:pPr>
            <a:r>
              <a:rPr lang="en-US" sz="1150" dirty="0">
                <a:solidFill>
                  <a:srgbClr val="24272E"/>
                </a:solidFill>
                <a:latin typeface="Calibri" pitchFamily="34" charset="0"/>
                <a:ea typeface="Calibri" pitchFamily="34" charset="-122"/>
                <a:cs typeface="Calibri" pitchFamily="34" charset="-120"/>
              </a:rPr>
              <a:t>Chấm điểm Khả năng (1-5) × Ảnh hưởng (1-5) = Điểm rủi ro</a:t>
            </a:r>
            <a:endParaRPr lang="en-US" sz="1150" dirty="0"/>
          </a:p>
        </p:txBody>
      </p:sp>
      <p:sp>
        <p:nvSpPr>
          <p:cNvPr id="35" name="Shape 33"/>
          <p:cNvSpPr/>
          <p:nvPr/>
        </p:nvSpPr>
        <p:spPr>
          <a:xfrm>
            <a:off x="548640" y="6382512"/>
            <a:ext cx="5367528" cy="1234440"/>
          </a:xfrm>
          <a:prstGeom prst="roundRect">
            <a:avLst>
              <a:gd name="adj" fmla="val 5185"/>
            </a:avLst>
          </a:prstGeom>
          <a:solidFill>
            <a:srgbClr val="F4F6FB"/>
          </a:solidFill>
          <a:ln/>
        </p:spPr>
      </p:sp>
      <p:sp>
        <p:nvSpPr>
          <p:cNvPr id="36" name="Shape 34"/>
          <p:cNvSpPr/>
          <p:nvPr/>
        </p:nvSpPr>
        <p:spPr>
          <a:xfrm>
            <a:off x="713232" y="6798564"/>
            <a:ext cx="402336" cy="402336"/>
          </a:xfrm>
          <a:prstGeom prst="ellipse">
            <a:avLst/>
          </a:prstGeom>
          <a:solidFill>
            <a:srgbClr val="1E2761"/>
          </a:solidFill>
          <a:ln/>
        </p:spPr>
      </p:sp>
      <p:sp>
        <p:nvSpPr>
          <p:cNvPr id="37" name="Text 35"/>
          <p:cNvSpPr/>
          <p:nvPr/>
        </p:nvSpPr>
        <p:spPr>
          <a:xfrm>
            <a:off x="713232" y="6798564"/>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B5</a:t>
            </a:r>
            <a:endParaRPr lang="en-US" sz="1100" dirty="0"/>
          </a:p>
        </p:txBody>
      </p:sp>
      <p:sp>
        <p:nvSpPr>
          <p:cNvPr id="38" name="Text 36"/>
          <p:cNvSpPr/>
          <p:nvPr/>
        </p:nvSpPr>
        <p:spPr>
          <a:xfrm>
            <a:off x="1234440" y="6382512"/>
            <a:ext cx="4498848" cy="1234440"/>
          </a:xfrm>
          <a:prstGeom prst="rect">
            <a:avLst/>
          </a:prstGeom>
          <a:noFill/>
          <a:ln/>
        </p:spPr>
        <p:txBody>
          <a:bodyPr wrap="square" rtlCol="0" anchor="ctr"/>
          <a:lstStyle/>
          <a:p>
            <a:pPr indent="0" marL="0">
              <a:lnSpc>
                <a:spcPct val="105000"/>
              </a:lnSpc>
              <a:buNone/>
            </a:pPr>
            <a:r>
              <a:rPr lang="en-US" sz="1150" dirty="0">
                <a:solidFill>
                  <a:srgbClr val="24272E"/>
                </a:solidFill>
                <a:latin typeface="Calibri" pitchFamily="34" charset="0"/>
                <a:ea typeface="Calibri" pitchFamily="34" charset="-122"/>
                <a:cs typeface="Calibri" pitchFamily="34" charset="-120"/>
              </a:rPr>
              <a:t>Chọn 5 rủi ro điểm cao nhất, lập kế hoạch xử lý cụ thể</a:t>
            </a:r>
            <a:endParaRPr lang="en-US" sz="1150" dirty="0"/>
          </a:p>
        </p:txBody>
      </p:sp>
      <p:sp>
        <p:nvSpPr>
          <p:cNvPr id="39" name="Shape 37"/>
          <p:cNvSpPr/>
          <p:nvPr/>
        </p:nvSpPr>
        <p:spPr>
          <a:xfrm>
            <a:off x="6099048" y="6382512"/>
            <a:ext cx="5367528" cy="1234440"/>
          </a:xfrm>
          <a:prstGeom prst="roundRect">
            <a:avLst>
              <a:gd name="adj" fmla="val 5185"/>
            </a:avLst>
          </a:prstGeom>
          <a:solidFill>
            <a:srgbClr val="F4F6FB"/>
          </a:solidFill>
          <a:ln/>
        </p:spPr>
      </p:sp>
      <p:sp>
        <p:nvSpPr>
          <p:cNvPr id="40" name="Shape 38"/>
          <p:cNvSpPr/>
          <p:nvPr/>
        </p:nvSpPr>
        <p:spPr>
          <a:xfrm>
            <a:off x="6263640" y="6798564"/>
            <a:ext cx="402336" cy="402336"/>
          </a:xfrm>
          <a:prstGeom prst="ellipse">
            <a:avLst/>
          </a:prstGeom>
          <a:solidFill>
            <a:srgbClr val="1E2761"/>
          </a:solidFill>
          <a:ln/>
        </p:spPr>
      </p:sp>
      <p:sp>
        <p:nvSpPr>
          <p:cNvPr id="41" name="Text 39"/>
          <p:cNvSpPr/>
          <p:nvPr/>
        </p:nvSpPr>
        <p:spPr>
          <a:xfrm>
            <a:off x="6263640" y="6798564"/>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B6</a:t>
            </a:r>
            <a:endParaRPr lang="en-US" sz="1100" dirty="0"/>
          </a:p>
        </p:txBody>
      </p:sp>
      <p:sp>
        <p:nvSpPr>
          <p:cNvPr id="42" name="Text 40"/>
          <p:cNvSpPr/>
          <p:nvPr/>
        </p:nvSpPr>
        <p:spPr>
          <a:xfrm>
            <a:off x="6784848" y="6382512"/>
            <a:ext cx="4498848" cy="1234440"/>
          </a:xfrm>
          <a:prstGeom prst="rect">
            <a:avLst/>
          </a:prstGeom>
          <a:noFill/>
          <a:ln/>
        </p:spPr>
        <p:txBody>
          <a:bodyPr wrap="square" rtlCol="0" anchor="ctr"/>
          <a:lstStyle/>
          <a:p>
            <a:pPr indent="0" marL="0">
              <a:lnSpc>
                <a:spcPct val="105000"/>
              </a:lnSpc>
              <a:buNone/>
            </a:pPr>
            <a:r>
              <a:rPr lang="en-US" sz="1150" dirty="0">
                <a:solidFill>
                  <a:srgbClr val="24272E"/>
                </a:solidFill>
                <a:latin typeface="Calibri" pitchFamily="34" charset="0"/>
                <a:ea typeface="Calibri" pitchFamily="34" charset="-122"/>
                <a:cs typeface="Calibri" pitchFamily="34" charset="-120"/>
              </a:rPr>
              <a:t>Xây dựng checklist kiểm tra định kỳ hằng tháng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E2761"/>
                </a:solidFill>
                <a:latin typeface="Calibri" pitchFamily="34" charset="0"/>
                <a:ea typeface="Calibri" pitchFamily="34" charset="-122"/>
                <a:cs typeface="Calibri" pitchFamily="34" charset="-120"/>
              </a:rPr>
              <a:t>KẾT QUẢ 1/2</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indent="0" marL="0">
              <a:buNone/>
            </a:pPr>
            <a:r>
              <a:rPr lang="en-US" sz="2800" b="1" dirty="0">
                <a:solidFill>
                  <a:srgbClr val="24272E"/>
                </a:solidFill>
                <a:latin typeface="Cambria" pitchFamily="34" charset="0"/>
                <a:ea typeface="Cambria" pitchFamily="34" charset="-122"/>
                <a:cs typeface="Cambria" pitchFamily="34" charset="-120"/>
              </a:rPr>
              <a:t>Danh mục tài sản và Sổ đăng ký rủi ro (Risk Register)</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indent="0" marL="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481328"/>
            <a:ext cx="2331720" cy="1051560"/>
          </a:xfrm>
          <a:prstGeom prst="roundRect">
            <a:avLst>
              <a:gd name="adj" fmla="val 6957"/>
            </a:avLst>
          </a:prstGeom>
          <a:solidFill>
            <a:srgbClr val="1E2761"/>
          </a:solidFill>
          <a:ln/>
        </p:spPr>
      </p:sp>
      <p:sp>
        <p:nvSpPr>
          <p:cNvPr id="7" name="Text 5"/>
          <p:cNvSpPr/>
          <p:nvPr/>
        </p:nvSpPr>
        <p:spPr>
          <a:xfrm>
            <a:off x="548640" y="1517904"/>
            <a:ext cx="2331720" cy="548640"/>
          </a:xfrm>
          <a:prstGeom prst="rect">
            <a:avLst/>
          </a:prstGeom>
          <a:noFill/>
          <a:ln/>
        </p:spPr>
        <p:txBody>
          <a:bodyPr wrap="square" rtlCol="0" anchor="ctr"/>
          <a:lstStyle/>
          <a:p>
            <a:pPr algn="ctr" indent="0" marL="0">
              <a:buNone/>
            </a:pPr>
            <a:r>
              <a:rPr lang="en-US" sz="3000" b="1" dirty="0">
                <a:solidFill>
                  <a:srgbClr val="CADCFC"/>
                </a:solidFill>
                <a:latin typeface="Cambria" pitchFamily="34" charset="0"/>
                <a:ea typeface="Cambria" pitchFamily="34" charset="-122"/>
                <a:cs typeface="Cambria" pitchFamily="34" charset="-120"/>
              </a:rPr>
              <a:t>15</a:t>
            </a:r>
            <a:endParaRPr lang="en-US" sz="3000" dirty="0"/>
          </a:p>
        </p:txBody>
      </p:sp>
      <p:sp>
        <p:nvSpPr>
          <p:cNvPr id="8" name="Text 6"/>
          <p:cNvSpPr/>
          <p:nvPr/>
        </p:nvSpPr>
        <p:spPr>
          <a:xfrm>
            <a:off x="640080" y="2048256"/>
            <a:ext cx="2148840" cy="457200"/>
          </a:xfrm>
          <a:prstGeom prst="rect">
            <a:avLst/>
          </a:prstGeom>
          <a:noFill/>
          <a:ln/>
        </p:spPr>
        <p:txBody>
          <a:bodyPr wrap="square" rtlCol="0" anchor="ctr"/>
          <a:lstStyle/>
          <a:p>
            <a:pPr algn="ctr" indent="0" marL="0">
              <a:lnSpc>
                <a:spcPct val="100000"/>
              </a:lnSpc>
              <a:buNone/>
            </a:pPr>
            <a:r>
              <a:rPr lang="en-US" sz="950" dirty="0">
                <a:solidFill>
                  <a:srgbClr val="FFFFFF"/>
                </a:solidFill>
                <a:latin typeface="Calibri" pitchFamily="34" charset="0"/>
                <a:ea typeface="Calibri" pitchFamily="34" charset="-122"/>
                <a:cs typeface="Calibri" pitchFamily="34" charset="-120"/>
              </a:rPr>
              <a:t>Tài sản được</a:t>
            </a:r>
            <a:endParaRPr lang="en-US" sz="950" dirty="0"/>
          </a:p>
          <a:p>
            <a:pPr algn="ctr" indent="0" marL="0">
              <a:lnSpc>
                <a:spcPct val="100000"/>
              </a:lnSpc>
              <a:buNone/>
            </a:pPr>
            <a:r>
              <a:rPr lang="en-US" sz="950" dirty="0">
                <a:solidFill>
                  <a:srgbClr val="FFFFFF"/>
                </a:solidFill>
                <a:latin typeface="Calibri" pitchFamily="34" charset="0"/>
                <a:ea typeface="Calibri" pitchFamily="34" charset="-122"/>
                <a:cs typeface="Calibri" pitchFamily="34" charset="-120"/>
              </a:rPr>
              <a:t>nhận diện</a:t>
            </a:r>
            <a:endParaRPr lang="en-US" sz="950" dirty="0"/>
          </a:p>
        </p:txBody>
      </p:sp>
      <p:sp>
        <p:nvSpPr>
          <p:cNvPr id="9" name="Shape 7"/>
          <p:cNvSpPr/>
          <p:nvPr/>
        </p:nvSpPr>
        <p:spPr>
          <a:xfrm>
            <a:off x="3044952" y="1481328"/>
            <a:ext cx="2331720" cy="1051560"/>
          </a:xfrm>
          <a:prstGeom prst="roundRect">
            <a:avLst>
              <a:gd name="adj" fmla="val 6957"/>
            </a:avLst>
          </a:prstGeom>
          <a:solidFill>
            <a:srgbClr val="1E2761"/>
          </a:solidFill>
          <a:ln/>
        </p:spPr>
      </p:sp>
      <p:sp>
        <p:nvSpPr>
          <p:cNvPr id="10" name="Text 8"/>
          <p:cNvSpPr/>
          <p:nvPr/>
        </p:nvSpPr>
        <p:spPr>
          <a:xfrm>
            <a:off x="3044952" y="1517904"/>
            <a:ext cx="2331720" cy="548640"/>
          </a:xfrm>
          <a:prstGeom prst="rect">
            <a:avLst/>
          </a:prstGeom>
          <a:noFill/>
          <a:ln/>
        </p:spPr>
        <p:txBody>
          <a:bodyPr wrap="square" rtlCol="0" anchor="ctr"/>
          <a:lstStyle/>
          <a:p>
            <a:pPr algn="ctr" indent="0" marL="0">
              <a:buNone/>
            </a:pPr>
            <a:r>
              <a:rPr lang="en-US" sz="3000" b="1" dirty="0">
                <a:solidFill>
                  <a:srgbClr val="CADCFC"/>
                </a:solidFill>
                <a:latin typeface="Cambria" pitchFamily="34" charset="0"/>
                <a:ea typeface="Cambria" pitchFamily="34" charset="-122"/>
                <a:cs typeface="Cambria" pitchFamily="34" charset="-120"/>
              </a:rPr>
              <a:t>17</a:t>
            </a:r>
            <a:endParaRPr lang="en-US" sz="3000" dirty="0"/>
          </a:p>
        </p:txBody>
      </p:sp>
      <p:sp>
        <p:nvSpPr>
          <p:cNvPr id="11" name="Text 9"/>
          <p:cNvSpPr/>
          <p:nvPr/>
        </p:nvSpPr>
        <p:spPr>
          <a:xfrm>
            <a:off x="3136392" y="2048256"/>
            <a:ext cx="2148840" cy="457200"/>
          </a:xfrm>
          <a:prstGeom prst="rect">
            <a:avLst/>
          </a:prstGeom>
          <a:noFill/>
          <a:ln/>
        </p:spPr>
        <p:txBody>
          <a:bodyPr wrap="square" rtlCol="0" anchor="ctr"/>
          <a:lstStyle/>
          <a:p>
            <a:pPr algn="ctr" indent="0" marL="0">
              <a:lnSpc>
                <a:spcPct val="100000"/>
              </a:lnSpc>
              <a:buNone/>
            </a:pPr>
            <a:r>
              <a:rPr lang="en-US" sz="950" dirty="0">
                <a:solidFill>
                  <a:srgbClr val="FFFFFF"/>
                </a:solidFill>
                <a:latin typeface="Calibri" pitchFamily="34" charset="0"/>
                <a:ea typeface="Calibri" pitchFamily="34" charset="-122"/>
                <a:cs typeface="Calibri" pitchFamily="34" charset="-120"/>
              </a:rPr>
              <a:t>Rủi ro cụ thể</a:t>
            </a:r>
            <a:endParaRPr lang="en-US" sz="950" dirty="0"/>
          </a:p>
          <a:p>
            <a:pPr algn="ctr" indent="0" marL="0">
              <a:lnSpc>
                <a:spcPct val="100000"/>
              </a:lnSpc>
              <a:buNone/>
            </a:pPr>
            <a:r>
              <a:rPr lang="en-US" sz="950" dirty="0">
                <a:solidFill>
                  <a:srgbClr val="FFFFFF"/>
                </a:solidFill>
                <a:latin typeface="Calibri" pitchFamily="34" charset="0"/>
                <a:ea typeface="Calibri" pitchFamily="34" charset="-122"/>
                <a:cs typeface="Calibri" pitchFamily="34" charset="-120"/>
              </a:rPr>
              <a:t>trong Risk Register</a:t>
            </a:r>
            <a:endParaRPr lang="en-US" sz="950" dirty="0"/>
          </a:p>
        </p:txBody>
      </p:sp>
      <p:sp>
        <p:nvSpPr>
          <p:cNvPr id="12" name="Shape 10"/>
          <p:cNvSpPr/>
          <p:nvPr/>
        </p:nvSpPr>
        <p:spPr>
          <a:xfrm>
            <a:off x="5541264" y="1481328"/>
            <a:ext cx="2331720" cy="1051560"/>
          </a:xfrm>
          <a:prstGeom prst="roundRect">
            <a:avLst>
              <a:gd name="adj" fmla="val 6957"/>
            </a:avLst>
          </a:prstGeom>
          <a:solidFill>
            <a:srgbClr val="1E2761"/>
          </a:solidFill>
          <a:ln/>
        </p:spPr>
      </p:sp>
      <p:sp>
        <p:nvSpPr>
          <p:cNvPr id="13" name="Text 11"/>
          <p:cNvSpPr/>
          <p:nvPr/>
        </p:nvSpPr>
        <p:spPr>
          <a:xfrm>
            <a:off x="5541264" y="1517904"/>
            <a:ext cx="2331720" cy="548640"/>
          </a:xfrm>
          <a:prstGeom prst="rect">
            <a:avLst/>
          </a:prstGeom>
          <a:noFill/>
          <a:ln/>
        </p:spPr>
        <p:txBody>
          <a:bodyPr wrap="square" rtlCol="0" anchor="ctr"/>
          <a:lstStyle/>
          <a:p>
            <a:pPr algn="ctr" indent="0" marL="0">
              <a:buNone/>
            </a:pPr>
            <a:r>
              <a:rPr lang="en-US" sz="3000" b="1" dirty="0">
                <a:solidFill>
                  <a:srgbClr val="CADCFC"/>
                </a:solidFill>
                <a:latin typeface="Cambria" pitchFamily="34" charset="0"/>
                <a:ea typeface="Cambria" pitchFamily="34" charset="-122"/>
                <a:cs typeface="Cambria" pitchFamily="34" charset="-120"/>
              </a:rPr>
              <a:t>6</a:t>
            </a:r>
            <a:endParaRPr lang="en-US" sz="3000" dirty="0"/>
          </a:p>
        </p:txBody>
      </p:sp>
      <p:sp>
        <p:nvSpPr>
          <p:cNvPr id="14" name="Text 12"/>
          <p:cNvSpPr/>
          <p:nvPr/>
        </p:nvSpPr>
        <p:spPr>
          <a:xfrm>
            <a:off x="5632704" y="2048256"/>
            <a:ext cx="2148840" cy="457200"/>
          </a:xfrm>
          <a:prstGeom prst="rect">
            <a:avLst/>
          </a:prstGeom>
          <a:noFill/>
          <a:ln/>
        </p:spPr>
        <p:txBody>
          <a:bodyPr wrap="square" rtlCol="0" anchor="ctr"/>
          <a:lstStyle/>
          <a:p>
            <a:pPr algn="ctr" indent="0" marL="0">
              <a:lnSpc>
                <a:spcPct val="100000"/>
              </a:lnSpc>
              <a:buNone/>
            </a:pPr>
            <a:r>
              <a:rPr lang="en-US" sz="950" dirty="0">
                <a:solidFill>
                  <a:srgbClr val="FFFFFF"/>
                </a:solidFill>
                <a:latin typeface="Calibri" pitchFamily="34" charset="0"/>
                <a:ea typeface="Calibri" pitchFamily="34" charset="-122"/>
                <a:cs typeface="Calibri" pitchFamily="34" charset="-120"/>
              </a:rPr>
              <a:t>Rủi ro mức Rất cao /</a:t>
            </a:r>
            <a:endParaRPr lang="en-US" sz="950" dirty="0"/>
          </a:p>
          <a:p>
            <a:pPr algn="ctr" indent="0" marL="0">
              <a:lnSpc>
                <a:spcPct val="100000"/>
              </a:lnSpc>
              <a:buNone/>
            </a:pPr>
            <a:r>
              <a:rPr lang="en-US" sz="950" dirty="0">
                <a:solidFill>
                  <a:srgbClr val="FFFFFF"/>
                </a:solidFill>
                <a:latin typeface="Calibri" pitchFamily="34" charset="0"/>
                <a:ea typeface="Calibri" pitchFamily="34" charset="-122"/>
                <a:cs typeface="Calibri" pitchFamily="34" charset="-120"/>
              </a:rPr>
              <a:t>Nghiêm trọng (≥15 điểm)</a:t>
            </a:r>
            <a:endParaRPr lang="en-US" sz="950" dirty="0"/>
          </a:p>
        </p:txBody>
      </p:sp>
      <p:sp>
        <p:nvSpPr>
          <p:cNvPr id="15" name="Text 13"/>
          <p:cNvSpPr/>
          <p:nvPr/>
        </p:nvSpPr>
        <p:spPr>
          <a:xfrm>
            <a:off x="548640" y="2788920"/>
            <a:ext cx="7315200" cy="292608"/>
          </a:xfrm>
          <a:prstGeom prst="rect">
            <a:avLst/>
          </a:prstGeom>
          <a:noFill/>
          <a:ln/>
        </p:spPr>
        <p:txBody>
          <a:bodyPr wrap="square" rtlCol="0" anchor="ctr"/>
          <a:lstStyle/>
          <a:p>
            <a:pPr indent="0" marL="0">
              <a:buNone/>
            </a:pPr>
            <a:r>
              <a:rPr lang="en-US" sz="1350" b="1" dirty="0">
                <a:solidFill>
                  <a:srgbClr val="24272E"/>
                </a:solidFill>
                <a:latin typeface="Cambria" pitchFamily="34" charset="0"/>
                <a:ea typeface="Cambria" pitchFamily="34" charset="-122"/>
                <a:cs typeface="Cambria" pitchFamily="34" charset="-120"/>
              </a:rPr>
              <a:t>6 RỦI RO CÓ ĐIỂM SỐ CAO NHẤT (≥ 15/25)</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127248"/>
          <a:ext cx="11091672" cy="2880360"/>
        </p:xfrm>
        <a:graphic>
          <a:graphicData uri="http://schemas.openxmlformats.org/drawingml/2006/table">
            <a:tbl>
              <a:tblPr/>
              <a:tblGrid>
                <a:gridCol w="822960"/>
                <a:gridCol w="2286000"/>
                <a:gridCol w="5330952"/>
                <a:gridCol w="914400"/>
                <a:gridCol w="1737360"/>
              </a:tblGrid>
              <a:tr h="41148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Tài sản</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Mối đe dọa chính</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Điểm</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Mức độ</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1E2761"/>
                    </a:solidFill>
                  </a:tcPr>
                </a:tc>
              </a:tr>
              <a:tr h="411480">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R-02</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Gateway</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Khai thác lỗ hổng để chiếm quyền điều khiển</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Nghiêm trọng</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B23A2E"/>
                    </a:solidFill>
                  </a:tcPr>
                </a:tc>
              </a:tr>
              <a:tr h="411480">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R-04</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Tài khoản quản trị</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Chiếm quyền tài khoản (mật khẩu yếu, không MFA)</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Nghiêm trọng</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B23A2E"/>
                    </a:solidFill>
                  </a:tcPr>
                </a:tc>
              </a:tr>
              <a:tr h="411480">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R-01</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Camera IP</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Truy cập trái phép (mật khẩu mặc định)</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Rất cao</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C85A2E"/>
                    </a:solidFill>
                  </a:tcPr>
                </a:tc>
              </a:tr>
              <a:tr h="411480">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R-06</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Firmware thiết bị</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Khai thác lỗ hổng đã công bố (CVE)</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Rất cao</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C85A2E"/>
                    </a:solidFill>
                  </a:tcPr>
                </a:tc>
              </a:tr>
              <a:tr h="411480">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R-14</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Ứng dụng quản lý / Server</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Truy cập trái phép từ xa (không VPN)</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Rất cao</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C85A2E"/>
                    </a:solidFill>
                  </a:tcPr>
                </a:tc>
              </a:tr>
              <a:tr h="411480">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R-16</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Khóa cửa thông minh</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Mở khóa trái phép từ xa (replay attack)</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Rất cao</a:t>
                      </a:r>
                      <a:endParaRPr lang="en-US" sz="1100" dirty="0">
                        <a:latin typeface="Calibri" charset="0"/>
                        <a:ea typeface="Calibri" charset="0"/>
                        <a:cs typeface="Calibri" charset="0"/>
                      </a:endParaRPr>
                    </a:p>
                  </a:txBody>
                  <a:tcPr marL="91440" marR="91440" marT="45720" marB="45720">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C85A2E"/>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E2761"/>
                </a:solidFill>
                <a:latin typeface="Calibri" pitchFamily="34" charset="0"/>
                <a:ea typeface="Calibri" pitchFamily="34" charset="-122"/>
                <a:cs typeface="Calibri" pitchFamily="34" charset="-120"/>
              </a:rPr>
              <a:t>KẾT QUẢ 2/2</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indent="0" marL="0">
              <a:buNone/>
            </a:pPr>
            <a:r>
              <a:rPr lang="en-US" sz="2800" b="1" dirty="0">
                <a:solidFill>
                  <a:srgbClr val="24272E"/>
                </a:solidFill>
                <a:latin typeface="Cambria" pitchFamily="34" charset="0"/>
                <a:ea typeface="Cambria" pitchFamily="34" charset="-122"/>
                <a:cs typeface="Cambria" pitchFamily="34" charset="-120"/>
              </a:rPr>
              <a:t>Ma trận rủi ro 5×5 (Khả năng × Ảnh hưởng)</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indent="0" marL="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6</a:t>
            </a:r>
            <a:endParaRPr lang="en-US" sz="900" dirty="0"/>
          </a:p>
        </p:txBody>
      </p:sp>
      <p:sp>
        <p:nvSpPr>
          <p:cNvPr id="6" name="Text 4"/>
          <p:cNvSpPr/>
          <p:nvPr/>
        </p:nvSpPr>
        <p:spPr>
          <a:xfrm>
            <a:off x="1005840" y="1600200"/>
            <a:ext cx="411480" cy="896112"/>
          </a:xfrm>
          <a:prstGeom prst="rect">
            <a:avLst/>
          </a:prstGeom>
          <a:noFill/>
          <a:ln/>
        </p:spPr>
        <p:txBody>
          <a:bodyPr wrap="square" rtlCol="0" anchor="ctr"/>
          <a:lstStyle/>
          <a:p>
            <a:pPr algn="ctr" indent="0" marL="0">
              <a:buNone/>
            </a:pPr>
            <a:r>
              <a:rPr lang="en-US" sz="1200" b="1" dirty="0">
                <a:solidFill>
                  <a:srgbClr val="5B6270"/>
                </a:solidFill>
                <a:latin typeface="Calibri" pitchFamily="34" charset="0"/>
                <a:ea typeface="Calibri" pitchFamily="34" charset="-122"/>
                <a:cs typeface="Calibri" pitchFamily="34" charset="-120"/>
              </a:rPr>
              <a:t>5</a:t>
            </a:r>
            <a:endParaRPr lang="en-US" sz="1200" dirty="0"/>
          </a:p>
        </p:txBody>
      </p:sp>
      <p:sp>
        <p:nvSpPr>
          <p:cNvPr id="7" name="Text 5"/>
          <p:cNvSpPr/>
          <p:nvPr/>
        </p:nvSpPr>
        <p:spPr>
          <a:xfrm>
            <a:off x="1005840" y="2496312"/>
            <a:ext cx="411480" cy="896112"/>
          </a:xfrm>
          <a:prstGeom prst="rect">
            <a:avLst/>
          </a:prstGeom>
          <a:noFill/>
          <a:ln/>
        </p:spPr>
        <p:txBody>
          <a:bodyPr wrap="square" rtlCol="0" anchor="ctr"/>
          <a:lstStyle/>
          <a:p>
            <a:pPr algn="ctr" indent="0" marL="0">
              <a:buNone/>
            </a:pPr>
            <a:r>
              <a:rPr lang="en-US" sz="1200" b="1" dirty="0">
                <a:solidFill>
                  <a:srgbClr val="5B6270"/>
                </a:solidFill>
                <a:latin typeface="Calibri" pitchFamily="34" charset="0"/>
                <a:ea typeface="Calibri" pitchFamily="34" charset="-122"/>
                <a:cs typeface="Calibri" pitchFamily="34" charset="-120"/>
              </a:rPr>
              <a:t>4</a:t>
            </a:r>
            <a:endParaRPr lang="en-US" sz="1200" dirty="0"/>
          </a:p>
        </p:txBody>
      </p:sp>
      <p:sp>
        <p:nvSpPr>
          <p:cNvPr id="8" name="Text 6"/>
          <p:cNvSpPr/>
          <p:nvPr/>
        </p:nvSpPr>
        <p:spPr>
          <a:xfrm>
            <a:off x="1005840" y="3392424"/>
            <a:ext cx="411480" cy="896112"/>
          </a:xfrm>
          <a:prstGeom prst="rect">
            <a:avLst/>
          </a:prstGeom>
          <a:noFill/>
          <a:ln/>
        </p:spPr>
        <p:txBody>
          <a:bodyPr wrap="square" rtlCol="0" anchor="ctr"/>
          <a:lstStyle/>
          <a:p>
            <a:pPr algn="ctr" indent="0" marL="0">
              <a:buNone/>
            </a:pPr>
            <a:r>
              <a:rPr lang="en-US" sz="1200" b="1" dirty="0">
                <a:solidFill>
                  <a:srgbClr val="5B6270"/>
                </a:solidFill>
                <a:latin typeface="Calibri" pitchFamily="34" charset="0"/>
                <a:ea typeface="Calibri" pitchFamily="34" charset="-122"/>
                <a:cs typeface="Calibri" pitchFamily="34" charset="-120"/>
              </a:rPr>
              <a:t>3</a:t>
            </a:r>
            <a:endParaRPr lang="en-US" sz="1200" dirty="0"/>
          </a:p>
        </p:txBody>
      </p:sp>
      <p:sp>
        <p:nvSpPr>
          <p:cNvPr id="9" name="Text 7"/>
          <p:cNvSpPr/>
          <p:nvPr/>
        </p:nvSpPr>
        <p:spPr>
          <a:xfrm>
            <a:off x="1005840" y="4288536"/>
            <a:ext cx="411480" cy="896112"/>
          </a:xfrm>
          <a:prstGeom prst="rect">
            <a:avLst/>
          </a:prstGeom>
          <a:noFill/>
          <a:ln/>
        </p:spPr>
        <p:txBody>
          <a:bodyPr wrap="square" rtlCol="0" anchor="ctr"/>
          <a:lstStyle/>
          <a:p>
            <a:pPr algn="ctr" indent="0" marL="0">
              <a:buNone/>
            </a:pPr>
            <a:r>
              <a:rPr lang="en-US" sz="1200" b="1" dirty="0">
                <a:solidFill>
                  <a:srgbClr val="5B6270"/>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05840" y="5184648"/>
            <a:ext cx="411480" cy="896112"/>
          </a:xfrm>
          <a:prstGeom prst="rect">
            <a:avLst/>
          </a:prstGeom>
          <a:noFill/>
          <a:ln/>
        </p:spPr>
        <p:txBody>
          <a:bodyPr wrap="square" rtlCol="0" anchor="ctr"/>
          <a:lstStyle/>
          <a:p>
            <a:pPr algn="ctr" indent="0" marL="0">
              <a:buNone/>
            </a:pPr>
            <a:r>
              <a:rPr lang="en-US" sz="1200" b="1" dirty="0">
                <a:solidFill>
                  <a:srgbClr val="5B6270"/>
                </a:solidFill>
                <a:latin typeface="Calibri" pitchFamily="34" charset="0"/>
                <a:ea typeface="Calibri" pitchFamily="34" charset="-122"/>
                <a:cs typeface="Calibri" pitchFamily="34" charset="-120"/>
              </a:rPr>
              <a:t>1</a:t>
            </a:r>
            <a:endParaRPr lang="en-US" sz="1200" dirty="0"/>
          </a:p>
        </p:txBody>
      </p:sp>
      <p:sp>
        <p:nvSpPr>
          <p:cNvPr id="11" name="Shape 9"/>
          <p:cNvSpPr/>
          <p:nvPr/>
        </p:nvSpPr>
        <p:spPr>
          <a:xfrm>
            <a:off x="1508760" y="1600200"/>
            <a:ext cx="850392" cy="850392"/>
          </a:xfrm>
          <a:prstGeom prst="rect">
            <a:avLst/>
          </a:prstGeom>
          <a:solidFill>
            <a:srgbClr val="D9A521"/>
          </a:solidFill>
          <a:ln w="19050">
            <a:solidFill>
              <a:srgbClr val="FFFFFF"/>
            </a:solidFill>
            <a:prstDash val="solid"/>
          </a:ln>
        </p:spPr>
      </p:sp>
      <p:sp>
        <p:nvSpPr>
          <p:cNvPr id="12" name="Text 10"/>
          <p:cNvSpPr/>
          <p:nvPr/>
        </p:nvSpPr>
        <p:spPr>
          <a:xfrm>
            <a:off x="1508760" y="1600200"/>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5</a:t>
            </a:r>
            <a:endParaRPr lang="en-US" sz="950" dirty="0"/>
          </a:p>
        </p:txBody>
      </p:sp>
      <p:sp>
        <p:nvSpPr>
          <p:cNvPr id="13" name="Shape 11"/>
          <p:cNvSpPr/>
          <p:nvPr/>
        </p:nvSpPr>
        <p:spPr>
          <a:xfrm>
            <a:off x="1508760" y="2496312"/>
            <a:ext cx="850392" cy="850392"/>
          </a:xfrm>
          <a:prstGeom prst="rect">
            <a:avLst/>
          </a:prstGeom>
          <a:solidFill>
            <a:srgbClr val="2E9E5B"/>
          </a:solidFill>
          <a:ln w="19050">
            <a:solidFill>
              <a:srgbClr val="FFFFFF"/>
            </a:solidFill>
            <a:prstDash val="solid"/>
          </a:ln>
        </p:spPr>
      </p:sp>
      <p:sp>
        <p:nvSpPr>
          <p:cNvPr id="14" name="Text 12"/>
          <p:cNvSpPr/>
          <p:nvPr/>
        </p:nvSpPr>
        <p:spPr>
          <a:xfrm>
            <a:off x="1508760" y="2496312"/>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15" name="Shape 13"/>
          <p:cNvSpPr/>
          <p:nvPr/>
        </p:nvSpPr>
        <p:spPr>
          <a:xfrm>
            <a:off x="1508760" y="3392424"/>
            <a:ext cx="850392" cy="850392"/>
          </a:xfrm>
          <a:prstGeom prst="rect">
            <a:avLst/>
          </a:prstGeom>
          <a:solidFill>
            <a:srgbClr val="2E9E5B"/>
          </a:solidFill>
          <a:ln w="19050">
            <a:solidFill>
              <a:srgbClr val="FFFFFF"/>
            </a:solidFill>
            <a:prstDash val="solid"/>
          </a:ln>
        </p:spPr>
      </p:sp>
      <p:sp>
        <p:nvSpPr>
          <p:cNvPr id="16" name="Text 14"/>
          <p:cNvSpPr/>
          <p:nvPr/>
        </p:nvSpPr>
        <p:spPr>
          <a:xfrm>
            <a:off x="1508760" y="3392424"/>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17" name="Shape 15"/>
          <p:cNvSpPr/>
          <p:nvPr/>
        </p:nvSpPr>
        <p:spPr>
          <a:xfrm>
            <a:off x="1508760" y="4288536"/>
            <a:ext cx="850392" cy="850392"/>
          </a:xfrm>
          <a:prstGeom prst="rect">
            <a:avLst/>
          </a:prstGeom>
          <a:solidFill>
            <a:srgbClr val="2E9E5B"/>
          </a:solidFill>
          <a:ln w="19050">
            <a:solidFill>
              <a:srgbClr val="FFFFFF"/>
            </a:solidFill>
            <a:prstDash val="solid"/>
          </a:ln>
        </p:spPr>
      </p:sp>
      <p:sp>
        <p:nvSpPr>
          <p:cNvPr id="18" name="Text 16"/>
          <p:cNvSpPr/>
          <p:nvPr/>
        </p:nvSpPr>
        <p:spPr>
          <a:xfrm>
            <a:off x="1508760" y="4288536"/>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19" name="Shape 17"/>
          <p:cNvSpPr/>
          <p:nvPr/>
        </p:nvSpPr>
        <p:spPr>
          <a:xfrm>
            <a:off x="1508760" y="5184648"/>
            <a:ext cx="850392" cy="850392"/>
          </a:xfrm>
          <a:prstGeom prst="rect">
            <a:avLst/>
          </a:prstGeom>
          <a:solidFill>
            <a:srgbClr val="2E9E5B"/>
          </a:solidFill>
          <a:ln w="19050">
            <a:solidFill>
              <a:srgbClr val="FFFFFF"/>
            </a:solidFill>
            <a:prstDash val="solid"/>
          </a:ln>
        </p:spPr>
      </p:sp>
      <p:sp>
        <p:nvSpPr>
          <p:cNvPr id="20" name="Text 18"/>
          <p:cNvSpPr/>
          <p:nvPr/>
        </p:nvSpPr>
        <p:spPr>
          <a:xfrm>
            <a:off x="1508760" y="5184648"/>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21" name="Shape 19"/>
          <p:cNvSpPr/>
          <p:nvPr/>
        </p:nvSpPr>
        <p:spPr>
          <a:xfrm>
            <a:off x="2404872" y="1600200"/>
            <a:ext cx="850392" cy="850392"/>
          </a:xfrm>
          <a:prstGeom prst="rect">
            <a:avLst/>
          </a:prstGeom>
          <a:solidFill>
            <a:srgbClr val="E07B2A"/>
          </a:solidFill>
          <a:ln w="19050">
            <a:solidFill>
              <a:srgbClr val="FFFFFF"/>
            </a:solidFill>
            <a:prstDash val="solid"/>
          </a:ln>
        </p:spPr>
      </p:sp>
      <p:sp>
        <p:nvSpPr>
          <p:cNvPr id="22" name="Text 20"/>
          <p:cNvSpPr/>
          <p:nvPr/>
        </p:nvSpPr>
        <p:spPr>
          <a:xfrm>
            <a:off x="2404872" y="1600200"/>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10</a:t>
            </a:r>
            <a:endParaRPr lang="en-US" sz="950" dirty="0"/>
          </a:p>
        </p:txBody>
      </p:sp>
      <p:sp>
        <p:nvSpPr>
          <p:cNvPr id="23" name="Shape 21"/>
          <p:cNvSpPr/>
          <p:nvPr/>
        </p:nvSpPr>
        <p:spPr>
          <a:xfrm>
            <a:off x="2404872" y="2496312"/>
            <a:ext cx="850392" cy="850392"/>
          </a:xfrm>
          <a:prstGeom prst="rect">
            <a:avLst/>
          </a:prstGeom>
          <a:solidFill>
            <a:srgbClr val="D9A521"/>
          </a:solidFill>
          <a:ln w="19050">
            <a:solidFill>
              <a:srgbClr val="FFFFFF"/>
            </a:solidFill>
            <a:prstDash val="solid"/>
          </a:ln>
        </p:spPr>
      </p:sp>
      <p:sp>
        <p:nvSpPr>
          <p:cNvPr id="24" name="Text 22"/>
          <p:cNvSpPr/>
          <p:nvPr/>
        </p:nvSpPr>
        <p:spPr>
          <a:xfrm>
            <a:off x="2404872" y="2496312"/>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8</a:t>
            </a:r>
            <a:endParaRPr lang="en-US" sz="950" dirty="0"/>
          </a:p>
        </p:txBody>
      </p:sp>
      <p:sp>
        <p:nvSpPr>
          <p:cNvPr id="25" name="Shape 23"/>
          <p:cNvSpPr/>
          <p:nvPr/>
        </p:nvSpPr>
        <p:spPr>
          <a:xfrm>
            <a:off x="2404872" y="3392424"/>
            <a:ext cx="850392" cy="850392"/>
          </a:xfrm>
          <a:prstGeom prst="rect">
            <a:avLst/>
          </a:prstGeom>
          <a:solidFill>
            <a:srgbClr val="D9A521"/>
          </a:solidFill>
          <a:ln w="19050">
            <a:solidFill>
              <a:srgbClr val="FFFFFF"/>
            </a:solidFill>
            <a:prstDash val="solid"/>
          </a:ln>
        </p:spPr>
      </p:sp>
      <p:sp>
        <p:nvSpPr>
          <p:cNvPr id="26" name="Text 24"/>
          <p:cNvSpPr/>
          <p:nvPr/>
        </p:nvSpPr>
        <p:spPr>
          <a:xfrm>
            <a:off x="2404872" y="3392424"/>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6</a:t>
            </a:r>
            <a:endParaRPr lang="en-US" sz="950" dirty="0"/>
          </a:p>
        </p:txBody>
      </p:sp>
      <p:sp>
        <p:nvSpPr>
          <p:cNvPr id="27" name="Shape 25"/>
          <p:cNvSpPr/>
          <p:nvPr/>
        </p:nvSpPr>
        <p:spPr>
          <a:xfrm>
            <a:off x="2404872" y="4288536"/>
            <a:ext cx="850392" cy="850392"/>
          </a:xfrm>
          <a:prstGeom prst="rect">
            <a:avLst/>
          </a:prstGeom>
          <a:solidFill>
            <a:srgbClr val="2E9E5B"/>
          </a:solidFill>
          <a:ln w="19050">
            <a:solidFill>
              <a:srgbClr val="FFFFFF"/>
            </a:solidFill>
            <a:prstDash val="solid"/>
          </a:ln>
        </p:spPr>
      </p:sp>
      <p:sp>
        <p:nvSpPr>
          <p:cNvPr id="28" name="Text 26"/>
          <p:cNvSpPr/>
          <p:nvPr/>
        </p:nvSpPr>
        <p:spPr>
          <a:xfrm>
            <a:off x="2404872" y="4288536"/>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29" name="Shape 27"/>
          <p:cNvSpPr/>
          <p:nvPr/>
        </p:nvSpPr>
        <p:spPr>
          <a:xfrm>
            <a:off x="2404872" y="5184648"/>
            <a:ext cx="850392" cy="850392"/>
          </a:xfrm>
          <a:prstGeom prst="rect">
            <a:avLst/>
          </a:prstGeom>
          <a:solidFill>
            <a:srgbClr val="2E9E5B"/>
          </a:solidFill>
          <a:ln w="19050">
            <a:solidFill>
              <a:srgbClr val="FFFFFF"/>
            </a:solidFill>
            <a:prstDash val="solid"/>
          </a:ln>
        </p:spPr>
      </p:sp>
      <p:sp>
        <p:nvSpPr>
          <p:cNvPr id="30" name="Text 28"/>
          <p:cNvSpPr/>
          <p:nvPr/>
        </p:nvSpPr>
        <p:spPr>
          <a:xfrm>
            <a:off x="2404872" y="5184648"/>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31" name="Shape 29"/>
          <p:cNvSpPr/>
          <p:nvPr/>
        </p:nvSpPr>
        <p:spPr>
          <a:xfrm>
            <a:off x="3300984" y="1600200"/>
            <a:ext cx="850392" cy="850392"/>
          </a:xfrm>
          <a:prstGeom prst="rect">
            <a:avLst/>
          </a:prstGeom>
          <a:solidFill>
            <a:srgbClr val="C85A2E"/>
          </a:solidFill>
          <a:ln w="19050">
            <a:solidFill>
              <a:srgbClr val="FFFFFF"/>
            </a:solidFill>
            <a:prstDash val="solid"/>
          </a:ln>
        </p:spPr>
      </p:sp>
      <p:sp>
        <p:nvSpPr>
          <p:cNvPr id="32" name="Text 30"/>
          <p:cNvSpPr/>
          <p:nvPr/>
        </p:nvSpPr>
        <p:spPr>
          <a:xfrm>
            <a:off x="3300984" y="1600200"/>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15</a:t>
            </a:r>
            <a:endParaRPr lang="en-US" sz="950" dirty="0"/>
          </a:p>
        </p:txBody>
      </p:sp>
      <p:sp>
        <p:nvSpPr>
          <p:cNvPr id="33" name="Shape 31"/>
          <p:cNvSpPr/>
          <p:nvPr/>
        </p:nvSpPr>
        <p:spPr>
          <a:xfrm>
            <a:off x="3300984" y="2496312"/>
            <a:ext cx="850392" cy="850392"/>
          </a:xfrm>
          <a:prstGeom prst="rect">
            <a:avLst/>
          </a:prstGeom>
          <a:solidFill>
            <a:srgbClr val="E07B2A"/>
          </a:solidFill>
          <a:ln w="19050">
            <a:solidFill>
              <a:srgbClr val="FFFFFF"/>
            </a:solidFill>
            <a:prstDash val="solid"/>
          </a:ln>
        </p:spPr>
      </p:sp>
      <p:sp>
        <p:nvSpPr>
          <p:cNvPr id="34" name="Text 32"/>
          <p:cNvSpPr/>
          <p:nvPr/>
        </p:nvSpPr>
        <p:spPr>
          <a:xfrm>
            <a:off x="3300984" y="2496312"/>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12</a:t>
            </a:r>
            <a:endParaRPr lang="en-US" sz="950" dirty="0"/>
          </a:p>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R-09,R-15</a:t>
            </a:r>
            <a:endParaRPr lang="en-US" sz="950" dirty="0"/>
          </a:p>
        </p:txBody>
      </p:sp>
      <p:sp>
        <p:nvSpPr>
          <p:cNvPr id="35" name="Shape 33"/>
          <p:cNvSpPr/>
          <p:nvPr/>
        </p:nvSpPr>
        <p:spPr>
          <a:xfrm>
            <a:off x="3300984" y="3392424"/>
            <a:ext cx="850392" cy="850392"/>
          </a:xfrm>
          <a:prstGeom prst="rect">
            <a:avLst/>
          </a:prstGeom>
          <a:solidFill>
            <a:srgbClr val="D9A521"/>
          </a:solidFill>
          <a:ln w="19050">
            <a:solidFill>
              <a:srgbClr val="FFFFFF"/>
            </a:solidFill>
            <a:prstDash val="solid"/>
          </a:ln>
        </p:spPr>
      </p:sp>
      <p:sp>
        <p:nvSpPr>
          <p:cNvPr id="36" name="Text 34"/>
          <p:cNvSpPr/>
          <p:nvPr/>
        </p:nvSpPr>
        <p:spPr>
          <a:xfrm>
            <a:off x="3300984" y="3392424"/>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9</a:t>
            </a:r>
            <a:endParaRPr lang="en-US" sz="950" dirty="0"/>
          </a:p>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R-03,R-07</a:t>
            </a:r>
            <a:endParaRPr lang="en-US" sz="950" dirty="0"/>
          </a:p>
        </p:txBody>
      </p:sp>
      <p:sp>
        <p:nvSpPr>
          <p:cNvPr id="37" name="Shape 35"/>
          <p:cNvSpPr/>
          <p:nvPr/>
        </p:nvSpPr>
        <p:spPr>
          <a:xfrm>
            <a:off x="3300984" y="4288536"/>
            <a:ext cx="850392" cy="850392"/>
          </a:xfrm>
          <a:prstGeom prst="rect">
            <a:avLst/>
          </a:prstGeom>
          <a:solidFill>
            <a:srgbClr val="D9A521"/>
          </a:solidFill>
          <a:ln w="19050">
            <a:solidFill>
              <a:srgbClr val="FFFFFF"/>
            </a:solidFill>
            <a:prstDash val="solid"/>
          </a:ln>
        </p:spPr>
      </p:sp>
      <p:sp>
        <p:nvSpPr>
          <p:cNvPr id="38" name="Text 36"/>
          <p:cNvSpPr/>
          <p:nvPr/>
        </p:nvSpPr>
        <p:spPr>
          <a:xfrm>
            <a:off x="3300984" y="4288536"/>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6</a:t>
            </a:r>
            <a:endParaRPr lang="en-US" sz="950" dirty="0"/>
          </a:p>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R-08,R-12,R-17</a:t>
            </a:r>
            <a:endParaRPr lang="en-US" sz="950" dirty="0"/>
          </a:p>
        </p:txBody>
      </p:sp>
      <p:sp>
        <p:nvSpPr>
          <p:cNvPr id="39" name="Shape 37"/>
          <p:cNvSpPr/>
          <p:nvPr/>
        </p:nvSpPr>
        <p:spPr>
          <a:xfrm>
            <a:off x="3300984" y="5184648"/>
            <a:ext cx="850392" cy="850392"/>
          </a:xfrm>
          <a:prstGeom prst="rect">
            <a:avLst/>
          </a:prstGeom>
          <a:solidFill>
            <a:srgbClr val="2E9E5B"/>
          </a:solidFill>
          <a:ln w="19050">
            <a:solidFill>
              <a:srgbClr val="FFFFFF"/>
            </a:solidFill>
            <a:prstDash val="solid"/>
          </a:ln>
        </p:spPr>
      </p:sp>
      <p:sp>
        <p:nvSpPr>
          <p:cNvPr id="40" name="Text 38"/>
          <p:cNvSpPr/>
          <p:nvPr/>
        </p:nvSpPr>
        <p:spPr>
          <a:xfrm>
            <a:off x="3300984" y="5184648"/>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41" name="Shape 39"/>
          <p:cNvSpPr/>
          <p:nvPr/>
        </p:nvSpPr>
        <p:spPr>
          <a:xfrm>
            <a:off x="4197096" y="1600200"/>
            <a:ext cx="850392" cy="850392"/>
          </a:xfrm>
          <a:prstGeom prst="rect">
            <a:avLst/>
          </a:prstGeom>
          <a:solidFill>
            <a:srgbClr val="B23A2E"/>
          </a:solidFill>
          <a:ln w="19050">
            <a:solidFill>
              <a:srgbClr val="FFFFFF"/>
            </a:solidFill>
            <a:prstDash val="solid"/>
          </a:ln>
        </p:spPr>
      </p:sp>
      <p:sp>
        <p:nvSpPr>
          <p:cNvPr id="42" name="Text 40"/>
          <p:cNvSpPr/>
          <p:nvPr/>
        </p:nvSpPr>
        <p:spPr>
          <a:xfrm>
            <a:off x="4197096" y="1600200"/>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20</a:t>
            </a:r>
            <a:endParaRPr lang="en-US" sz="950" dirty="0"/>
          </a:p>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R-04</a:t>
            </a:r>
            <a:endParaRPr lang="en-US" sz="950" dirty="0"/>
          </a:p>
        </p:txBody>
      </p:sp>
      <p:sp>
        <p:nvSpPr>
          <p:cNvPr id="43" name="Shape 41"/>
          <p:cNvSpPr/>
          <p:nvPr/>
        </p:nvSpPr>
        <p:spPr>
          <a:xfrm>
            <a:off x="4197096" y="2496312"/>
            <a:ext cx="850392" cy="850392"/>
          </a:xfrm>
          <a:prstGeom prst="rect">
            <a:avLst/>
          </a:prstGeom>
          <a:solidFill>
            <a:srgbClr val="C85A2E"/>
          </a:solidFill>
          <a:ln w="19050">
            <a:solidFill>
              <a:srgbClr val="FFFFFF"/>
            </a:solidFill>
            <a:prstDash val="solid"/>
          </a:ln>
        </p:spPr>
      </p:sp>
      <p:sp>
        <p:nvSpPr>
          <p:cNvPr id="44" name="Text 42"/>
          <p:cNvSpPr/>
          <p:nvPr/>
        </p:nvSpPr>
        <p:spPr>
          <a:xfrm>
            <a:off x="4197096" y="2496312"/>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16</a:t>
            </a:r>
            <a:endParaRPr lang="en-US" sz="950" dirty="0"/>
          </a:p>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R-01,R-06,R-14</a:t>
            </a:r>
            <a:endParaRPr lang="en-US" sz="950" dirty="0"/>
          </a:p>
        </p:txBody>
      </p:sp>
      <p:sp>
        <p:nvSpPr>
          <p:cNvPr id="45" name="Shape 43"/>
          <p:cNvSpPr/>
          <p:nvPr/>
        </p:nvSpPr>
        <p:spPr>
          <a:xfrm>
            <a:off x="4197096" y="3392424"/>
            <a:ext cx="850392" cy="850392"/>
          </a:xfrm>
          <a:prstGeom prst="rect">
            <a:avLst/>
          </a:prstGeom>
          <a:solidFill>
            <a:srgbClr val="E07B2A"/>
          </a:solidFill>
          <a:ln w="19050">
            <a:solidFill>
              <a:srgbClr val="FFFFFF"/>
            </a:solidFill>
            <a:prstDash val="solid"/>
          </a:ln>
        </p:spPr>
      </p:sp>
      <p:sp>
        <p:nvSpPr>
          <p:cNvPr id="46" name="Text 44"/>
          <p:cNvSpPr/>
          <p:nvPr/>
        </p:nvSpPr>
        <p:spPr>
          <a:xfrm>
            <a:off x="4197096" y="3392424"/>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12</a:t>
            </a:r>
            <a:endParaRPr lang="en-US" sz="950" dirty="0"/>
          </a:p>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R-05,R-11</a:t>
            </a:r>
            <a:endParaRPr lang="en-US" sz="950" dirty="0"/>
          </a:p>
        </p:txBody>
      </p:sp>
      <p:sp>
        <p:nvSpPr>
          <p:cNvPr id="47" name="Shape 45"/>
          <p:cNvSpPr/>
          <p:nvPr/>
        </p:nvSpPr>
        <p:spPr>
          <a:xfrm>
            <a:off x="4197096" y="4288536"/>
            <a:ext cx="850392" cy="850392"/>
          </a:xfrm>
          <a:prstGeom prst="rect">
            <a:avLst/>
          </a:prstGeom>
          <a:solidFill>
            <a:srgbClr val="D9A521"/>
          </a:solidFill>
          <a:ln w="19050">
            <a:solidFill>
              <a:srgbClr val="FFFFFF"/>
            </a:solidFill>
            <a:prstDash val="solid"/>
          </a:ln>
        </p:spPr>
      </p:sp>
      <p:sp>
        <p:nvSpPr>
          <p:cNvPr id="48" name="Text 46"/>
          <p:cNvSpPr/>
          <p:nvPr/>
        </p:nvSpPr>
        <p:spPr>
          <a:xfrm>
            <a:off x="4197096" y="4288536"/>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8</a:t>
            </a:r>
            <a:endParaRPr lang="en-US" sz="950" dirty="0"/>
          </a:p>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R-10,R-13</a:t>
            </a:r>
            <a:endParaRPr lang="en-US" sz="950" dirty="0"/>
          </a:p>
        </p:txBody>
      </p:sp>
      <p:sp>
        <p:nvSpPr>
          <p:cNvPr id="49" name="Shape 47"/>
          <p:cNvSpPr/>
          <p:nvPr/>
        </p:nvSpPr>
        <p:spPr>
          <a:xfrm>
            <a:off x="4197096" y="5184648"/>
            <a:ext cx="850392" cy="850392"/>
          </a:xfrm>
          <a:prstGeom prst="rect">
            <a:avLst/>
          </a:prstGeom>
          <a:solidFill>
            <a:srgbClr val="2E9E5B"/>
          </a:solidFill>
          <a:ln w="19050">
            <a:solidFill>
              <a:srgbClr val="FFFFFF"/>
            </a:solidFill>
            <a:prstDash val="solid"/>
          </a:ln>
        </p:spPr>
      </p:sp>
      <p:sp>
        <p:nvSpPr>
          <p:cNvPr id="50" name="Text 48"/>
          <p:cNvSpPr/>
          <p:nvPr/>
        </p:nvSpPr>
        <p:spPr>
          <a:xfrm>
            <a:off x="4197096" y="5184648"/>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51" name="Shape 49"/>
          <p:cNvSpPr/>
          <p:nvPr/>
        </p:nvSpPr>
        <p:spPr>
          <a:xfrm>
            <a:off x="5093208" y="1600200"/>
            <a:ext cx="850392" cy="850392"/>
          </a:xfrm>
          <a:prstGeom prst="rect">
            <a:avLst/>
          </a:prstGeom>
          <a:solidFill>
            <a:srgbClr val="B23A2E"/>
          </a:solidFill>
          <a:ln w="19050">
            <a:solidFill>
              <a:srgbClr val="FFFFFF"/>
            </a:solidFill>
            <a:prstDash val="solid"/>
          </a:ln>
        </p:spPr>
      </p:sp>
      <p:sp>
        <p:nvSpPr>
          <p:cNvPr id="52" name="Text 50"/>
          <p:cNvSpPr/>
          <p:nvPr/>
        </p:nvSpPr>
        <p:spPr>
          <a:xfrm>
            <a:off x="5093208" y="1600200"/>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25</a:t>
            </a:r>
            <a:endParaRPr lang="en-US" sz="950" dirty="0"/>
          </a:p>
        </p:txBody>
      </p:sp>
      <p:sp>
        <p:nvSpPr>
          <p:cNvPr id="53" name="Shape 51"/>
          <p:cNvSpPr/>
          <p:nvPr/>
        </p:nvSpPr>
        <p:spPr>
          <a:xfrm>
            <a:off x="5093208" y="2496312"/>
            <a:ext cx="850392" cy="850392"/>
          </a:xfrm>
          <a:prstGeom prst="rect">
            <a:avLst/>
          </a:prstGeom>
          <a:solidFill>
            <a:srgbClr val="B23A2E"/>
          </a:solidFill>
          <a:ln w="19050">
            <a:solidFill>
              <a:srgbClr val="FFFFFF"/>
            </a:solidFill>
            <a:prstDash val="solid"/>
          </a:ln>
        </p:spPr>
      </p:sp>
      <p:sp>
        <p:nvSpPr>
          <p:cNvPr id="54" name="Text 52"/>
          <p:cNvSpPr/>
          <p:nvPr/>
        </p:nvSpPr>
        <p:spPr>
          <a:xfrm>
            <a:off x="5093208" y="2496312"/>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20</a:t>
            </a:r>
            <a:endParaRPr lang="en-US" sz="950" dirty="0"/>
          </a:p>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R-02</a:t>
            </a:r>
            <a:endParaRPr lang="en-US" sz="950" dirty="0"/>
          </a:p>
        </p:txBody>
      </p:sp>
      <p:sp>
        <p:nvSpPr>
          <p:cNvPr id="55" name="Shape 53"/>
          <p:cNvSpPr/>
          <p:nvPr/>
        </p:nvSpPr>
        <p:spPr>
          <a:xfrm>
            <a:off x="5093208" y="3392424"/>
            <a:ext cx="850392" cy="850392"/>
          </a:xfrm>
          <a:prstGeom prst="rect">
            <a:avLst/>
          </a:prstGeom>
          <a:solidFill>
            <a:srgbClr val="C85A2E"/>
          </a:solidFill>
          <a:ln w="19050">
            <a:solidFill>
              <a:srgbClr val="FFFFFF"/>
            </a:solidFill>
            <a:prstDash val="solid"/>
          </a:ln>
        </p:spPr>
      </p:sp>
      <p:sp>
        <p:nvSpPr>
          <p:cNvPr id="56" name="Text 54"/>
          <p:cNvSpPr/>
          <p:nvPr/>
        </p:nvSpPr>
        <p:spPr>
          <a:xfrm>
            <a:off x="5093208" y="3392424"/>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15</a:t>
            </a:r>
            <a:endParaRPr lang="en-US" sz="950" dirty="0"/>
          </a:p>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R-16</a:t>
            </a:r>
            <a:endParaRPr lang="en-US" sz="950" dirty="0"/>
          </a:p>
        </p:txBody>
      </p:sp>
      <p:sp>
        <p:nvSpPr>
          <p:cNvPr id="57" name="Shape 55"/>
          <p:cNvSpPr/>
          <p:nvPr/>
        </p:nvSpPr>
        <p:spPr>
          <a:xfrm>
            <a:off x="5093208" y="4288536"/>
            <a:ext cx="850392" cy="850392"/>
          </a:xfrm>
          <a:prstGeom prst="rect">
            <a:avLst/>
          </a:prstGeom>
          <a:solidFill>
            <a:srgbClr val="E07B2A"/>
          </a:solidFill>
          <a:ln w="19050">
            <a:solidFill>
              <a:srgbClr val="FFFFFF"/>
            </a:solidFill>
            <a:prstDash val="solid"/>
          </a:ln>
        </p:spPr>
      </p:sp>
      <p:sp>
        <p:nvSpPr>
          <p:cNvPr id="58" name="Text 56"/>
          <p:cNvSpPr/>
          <p:nvPr/>
        </p:nvSpPr>
        <p:spPr>
          <a:xfrm>
            <a:off x="5093208" y="4288536"/>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10</a:t>
            </a:r>
            <a:endParaRPr lang="en-US" sz="950" dirty="0"/>
          </a:p>
        </p:txBody>
      </p:sp>
      <p:sp>
        <p:nvSpPr>
          <p:cNvPr id="59" name="Shape 57"/>
          <p:cNvSpPr/>
          <p:nvPr/>
        </p:nvSpPr>
        <p:spPr>
          <a:xfrm>
            <a:off x="5093208" y="5184648"/>
            <a:ext cx="850392" cy="850392"/>
          </a:xfrm>
          <a:prstGeom prst="rect">
            <a:avLst/>
          </a:prstGeom>
          <a:solidFill>
            <a:srgbClr val="D9A521"/>
          </a:solidFill>
          <a:ln w="19050">
            <a:solidFill>
              <a:srgbClr val="FFFFFF"/>
            </a:solidFill>
            <a:prstDash val="solid"/>
          </a:ln>
        </p:spPr>
      </p:sp>
      <p:sp>
        <p:nvSpPr>
          <p:cNvPr id="60" name="Text 58"/>
          <p:cNvSpPr/>
          <p:nvPr/>
        </p:nvSpPr>
        <p:spPr>
          <a:xfrm>
            <a:off x="5093208" y="5184648"/>
            <a:ext cx="850392" cy="850392"/>
          </a:xfrm>
          <a:prstGeom prst="rect">
            <a:avLst/>
          </a:prstGeom>
          <a:noFill/>
          <a:ln/>
        </p:spPr>
        <p:txBody>
          <a:bodyPr wrap="square" rtlCol="0" anchor="ct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5</a:t>
            </a:r>
            <a:endParaRPr lang="en-US" sz="950" dirty="0"/>
          </a:p>
        </p:txBody>
      </p:sp>
      <p:sp>
        <p:nvSpPr>
          <p:cNvPr id="61" name="Text 59"/>
          <p:cNvSpPr/>
          <p:nvPr/>
        </p:nvSpPr>
        <p:spPr>
          <a:xfrm>
            <a:off x="1508760" y="6108192"/>
            <a:ext cx="850392" cy="292608"/>
          </a:xfrm>
          <a:prstGeom prst="rect">
            <a:avLst/>
          </a:prstGeom>
          <a:noFill/>
          <a:ln/>
        </p:spPr>
        <p:txBody>
          <a:bodyPr wrap="square" rtlCol="0" anchor="ctr"/>
          <a:lstStyle/>
          <a:p>
            <a:pPr algn="ctr" indent="0" marL="0">
              <a:buNone/>
            </a:pPr>
            <a:r>
              <a:rPr lang="en-US" sz="1200" b="1" dirty="0">
                <a:solidFill>
                  <a:srgbClr val="5B6270"/>
                </a:solidFill>
                <a:latin typeface="Calibri" pitchFamily="34" charset="0"/>
                <a:ea typeface="Calibri" pitchFamily="34" charset="-122"/>
                <a:cs typeface="Calibri" pitchFamily="34" charset="-120"/>
              </a:rPr>
              <a:t>1</a:t>
            </a:r>
            <a:endParaRPr lang="en-US" sz="1200" dirty="0"/>
          </a:p>
        </p:txBody>
      </p:sp>
      <p:sp>
        <p:nvSpPr>
          <p:cNvPr id="62" name="Text 60"/>
          <p:cNvSpPr/>
          <p:nvPr/>
        </p:nvSpPr>
        <p:spPr>
          <a:xfrm>
            <a:off x="2404872" y="6108192"/>
            <a:ext cx="850392" cy="292608"/>
          </a:xfrm>
          <a:prstGeom prst="rect">
            <a:avLst/>
          </a:prstGeom>
          <a:noFill/>
          <a:ln/>
        </p:spPr>
        <p:txBody>
          <a:bodyPr wrap="square" rtlCol="0" anchor="ctr"/>
          <a:lstStyle/>
          <a:p>
            <a:pPr algn="ctr" indent="0" marL="0">
              <a:buNone/>
            </a:pPr>
            <a:r>
              <a:rPr lang="en-US" sz="1200" b="1" dirty="0">
                <a:solidFill>
                  <a:srgbClr val="5B6270"/>
                </a:solidFill>
                <a:latin typeface="Calibri" pitchFamily="34" charset="0"/>
                <a:ea typeface="Calibri" pitchFamily="34" charset="-122"/>
                <a:cs typeface="Calibri" pitchFamily="34" charset="-120"/>
              </a:rPr>
              <a:t>2</a:t>
            </a:r>
            <a:endParaRPr lang="en-US" sz="1200" dirty="0"/>
          </a:p>
        </p:txBody>
      </p:sp>
      <p:sp>
        <p:nvSpPr>
          <p:cNvPr id="63" name="Text 61"/>
          <p:cNvSpPr/>
          <p:nvPr/>
        </p:nvSpPr>
        <p:spPr>
          <a:xfrm>
            <a:off x="3300984" y="6108192"/>
            <a:ext cx="850392" cy="292608"/>
          </a:xfrm>
          <a:prstGeom prst="rect">
            <a:avLst/>
          </a:prstGeom>
          <a:noFill/>
          <a:ln/>
        </p:spPr>
        <p:txBody>
          <a:bodyPr wrap="square" rtlCol="0" anchor="ctr"/>
          <a:lstStyle/>
          <a:p>
            <a:pPr algn="ctr" indent="0" marL="0">
              <a:buNone/>
            </a:pPr>
            <a:r>
              <a:rPr lang="en-US" sz="1200" b="1" dirty="0">
                <a:solidFill>
                  <a:srgbClr val="5B6270"/>
                </a:solidFill>
                <a:latin typeface="Calibri" pitchFamily="34" charset="0"/>
                <a:ea typeface="Calibri" pitchFamily="34" charset="-122"/>
                <a:cs typeface="Calibri" pitchFamily="34" charset="-120"/>
              </a:rPr>
              <a:t>3</a:t>
            </a:r>
            <a:endParaRPr lang="en-US" sz="1200" dirty="0"/>
          </a:p>
        </p:txBody>
      </p:sp>
      <p:sp>
        <p:nvSpPr>
          <p:cNvPr id="64" name="Text 62"/>
          <p:cNvSpPr/>
          <p:nvPr/>
        </p:nvSpPr>
        <p:spPr>
          <a:xfrm>
            <a:off x="4197096" y="6108192"/>
            <a:ext cx="850392" cy="292608"/>
          </a:xfrm>
          <a:prstGeom prst="rect">
            <a:avLst/>
          </a:prstGeom>
          <a:noFill/>
          <a:ln/>
        </p:spPr>
        <p:txBody>
          <a:bodyPr wrap="square" rtlCol="0" anchor="ctr"/>
          <a:lstStyle/>
          <a:p>
            <a:pPr algn="ctr" indent="0" marL="0">
              <a:buNone/>
            </a:pPr>
            <a:r>
              <a:rPr lang="en-US" sz="1200" b="1" dirty="0">
                <a:solidFill>
                  <a:srgbClr val="5B6270"/>
                </a:solidFill>
                <a:latin typeface="Calibri" pitchFamily="34" charset="0"/>
                <a:ea typeface="Calibri" pitchFamily="34" charset="-122"/>
                <a:cs typeface="Calibri" pitchFamily="34" charset="-120"/>
              </a:rPr>
              <a:t>4</a:t>
            </a:r>
            <a:endParaRPr lang="en-US" sz="1200" dirty="0"/>
          </a:p>
        </p:txBody>
      </p:sp>
      <p:sp>
        <p:nvSpPr>
          <p:cNvPr id="65" name="Text 63"/>
          <p:cNvSpPr/>
          <p:nvPr/>
        </p:nvSpPr>
        <p:spPr>
          <a:xfrm>
            <a:off x="5093208" y="6108192"/>
            <a:ext cx="850392" cy="292608"/>
          </a:xfrm>
          <a:prstGeom prst="rect">
            <a:avLst/>
          </a:prstGeom>
          <a:noFill/>
          <a:ln/>
        </p:spPr>
        <p:txBody>
          <a:bodyPr wrap="square" rtlCol="0" anchor="ctr"/>
          <a:lstStyle/>
          <a:p>
            <a:pPr algn="ctr" indent="0" marL="0">
              <a:buNone/>
            </a:pPr>
            <a:r>
              <a:rPr lang="en-US" sz="1200" b="1" dirty="0">
                <a:solidFill>
                  <a:srgbClr val="5B6270"/>
                </a:solidFill>
                <a:latin typeface="Calibri" pitchFamily="34" charset="0"/>
                <a:ea typeface="Calibri" pitchFamily="34" charset="-122"/>
                <a:cs typeface="Calibri" pitchFamily="34" charset="-120"/>
              </a:rPr>
              <a:t>5</a:t>
            </a:r>
            <a:endParaRPr lang="en-US" sz="1200" dirty="0"/>
          </a:p>
        </p:txBody>
      </p:sp>
      <p:sp>
        <p:nvSpPr>
          <p:cNvPr id="66" name="Text 64"/>
          <p:cNvSpPr/>
          <p:nvPr/>
        </p:nvSpPr>
        <p:spPr>
          <a:xfrm>
            <a:off x="502920" y="1463040"/>
            <a:ext cx="685800" cy="822960"/>
          </a:xfrm>
          <a:prstGeom prst="rect">
            <a:avLst/>
          </a:prstGeom>
          <a:noFill/>
          <a:ln/>
        </p:spPr>
        <p:txBody>
          <a:bodyPr wrap="square"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Khả năng</a:t>
            </a:r>
            <a:endParaRPr lang="en-US" sz="1050" dirty="0"/>
          </a:p>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xảy ra</a:t>
            </a:r>
            <a:endParaRPr lang="en-US" sz="1050" dirty="0"/>
          </a:p>
        </p:txBody>
      </p:sp>
      <p:sp>
        <p:nvSpPr>
          <p:cNvPr id="67" name="Text 65"/>
          <p:cNvSpPr/>
          <p:nvPr/>
        </p:nvSpPr>
        <p:spPr>
          <a:xfrm>
            <a:off x="1508760" y="6446520"/>
            <a:ext cx="4480560" cy="274320"/>
          </a:xfrm>
          <a:prstGeom prst="rect">
            <a:avLst/>
          </a:prstGeom>
          <a:noFill/>
          <a:ln/>
        </p:spPr>
        <p:txBody>
          <a:bodyPr wrap="square"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Mức độ ảnh hưởng</a:t>
            </a:r>
            <a:endParaRPr lang="en-US" sz="1150" dirty="0"/>
          </a:p>
        </p:txBody>
      </p:sp>
      <p:sp>
        <p:nvSpPr>
          <p:cNvPr id="68" name="Shape 66"/>
          <p:cNvSpPr/>
          <p:nvPr/>
        </p:nvSpPr>
        <p:spPr>
          <a:xfrm>
            <a:off x="6766560" y="1691640"/>
            <a:ext cx="256032" cy="256032"/>
          </a:xfrm>
          <a:prstGeom prst="rect">
            <a:avLst/>
          </a:prstGeom>
          <a:solidFill>
            <a:srgbClr val="2E9E5B"/>
          </a:solidFill>
          <a:ln/>
        </p:spPr>
      </p:sp>
      <p:sp>
        <p:nvSpPr>
          <p:cNvPr id="69" name="Text 67"/>
          <p:cNvSpPr/>
          <p:nvPr/>
        </p:nvSpPr>
        <p:spPr>
          <a:xfrm>
            <a:off x="7132320" y="1645920"/>
            <a:ext cx="3291840" cy="365760"/>
          </a:xfrm>
          <a:prstGeom prst="rect">
            <a:avLst/>
          </a:prstGeom>
          <a:noFill/>
          <a:ln/>
        </p:spPr>
        <p:txBody>
          <a:bodyPr wrap="square" rtlCol="0" anchor="ctr"/>
          <a:lstStyle/>
          <a:p>
            <a:pPr indent="0" marL="0">
              <a:buNone/>
            </a:pPr>
            <a:r>
              <a:rPr lang="en-US" sz="1200" dirty="0">
                <a:solidFill>
                  <a:srgbClr val="24272E"/>
                </a:solidFill>
                <a:latin typeface="Calibri" pitchFamily="34" charset="0"/>
                <a:ea typeface="Calibri" pitchFamily="34" charset="-122"/>
                <a:cs typeface="Calibri" pitchFamily="34" charset="-120"/>
              </a:rPr>
              <a:t>Thấp (1-4)</a:t>
            </a:r>
            <a:endParaRPr lang="en-US" sz="1200" dirty="0"/>
          </a:p>
        </p:txBody>
      </p:sp>
      <p:sp>
        <p:nvSpPr>
          <p:cNvPr id="70" name="Shape 68"/>
          <p:cNvSpPr/>
          <p:nvPr/>
        </p:nvSpPr>
        <p:spPr>
          <a:xfrm>
            <a:off x="6766560" y="2167128"/>
            <a:ext cx="256032" cy="256032"/>
          </a:xfrm>
          <a:prstGeom prst="rect">
            <a:avLst/>
          </a:prstGeom>
          <a:solidFill>
            <a:srgbClr val="D9A521"/>
          </a:solidFill>
          <a:ln/>
        </p:spPr>
      </p:sp>
      <p:sp>
        <p:nvSpPr>
          <p:cNvPr id="71" name="Text 69"/>
          <p:cNvSpPr/>
          <p:nvPr/>
        </p:nvSpPr>
        <p:spPr>
          <a:xfrm>
            <a:off x="7132320" y="2121408"/>
            <a:ext cx="3291840" cy="365760"/>
          </a:xfrm>
          <a:prstGeom prst="rect">
            <a:avLst/>
          </a:prstGeom>
          <a:noFill/>
          <a:ln/>
        </p:spPr>
        <p:txBody>
          <a:bodyPr wrap="square" rtlCol="0" anchor="ctr"/>
          <a:lstStyle/>
          <a:p>
            <a:pPr indent="0" marL="0">
              <a:buNone/>
            </a:pPr>
            <a:r>
              <a:rPr lang="en-US" sz="1200" dirty="0">
                <a:solidFill>
                  <a:srgbClr val="24272E"/>
                </a:solidFill>
                <a:latin typeface="Calibri" pitchFamily="34" charset="0"/>
                <a:ea typeface="Calibri" pitchFamily="34" charset="-122"/>
                <a:cs typeface="Calibri" pitchFamily="34" charset="-120"/>
              </a:rPr>
              <a:t>Trung bình (5-9)</a:t>
            </a:r>
            <a:endParaRPr lang="en-US" sz="1200" dirty="0"/>
          </a:p>
        </p:txBody>
      </p:sp>
      <p:sp>
        <p:nvSpPr>
          <p:cNvPr id="72" name="Shape 70"/>
          <p:cNvSpPr/>
          <p:nvPr/>
        </p:nvSpPr>
        <p:spPr>
          <a:xfrm>
            <a:off x="6766560" y="2642616"/>
            <a:ext cx="256032" cy="256032"/>
          </a:xfrm>
          <a:prstGeom prst="rect">
            <a:avLst/>
          </a:prstGeom>
          <a:solidFill>
            <a:srgbClr val="E07B2A"/>
          </a:solidFill>
          <a:ln/>
        </p:spPr>
      </p:sp>
      <p:sp>
        <p:nvSpPr>
          <p:cNvPr id="73" name="Text 71"/>
          <p:cNvSpPr/>
          <p:nvPr/>
        </p:nvSpPr>
        <p:spPr>
          <a:xfrm>
            <a:off x="7132320" y="2596896"/>
            <a:ext cx="3291840" cy="365760"/>
          </a:xfrm>
          <a:prstGeom prst="rect">
            <a:avLst/>
          </a:prstGeom>
          <a:noFill/>
          <a:ln/>
        </p:spPr>
        <p:txBody>
          <a:bodyPr wrap="square" rtlCol="0" anchor="ctr"/>
          <a:lstStyle/>
          <a:p>
            <a:pPr indent="0" marL="0">
              <a:buNone/>
            </a:pPr>
            <a:r>
              <a:rPr lang="en-US" sz="1200" dirty="0">
                <a:solidFill>
                  <a:srgbClr val="24272E"/>
                </a:solidFill>
                <a:latin typeface="Calibri" pitchFamily="34" charset="0"/>
                <a:ea typeface="Calibri" pitchFamily="34" charset="-122"/>
                <a:cs typeface="Calibri" pitchFamily="34" charset="-120"/>
              </a:rPr>
              <a:t>Cao (10-14)</a:t>
            </a:r>
            <a:endParaRPr lang="en-US" sz="1200" dirty="0"/>
          </a:p>
        </p:txBody>
      </p:sp>
      <p:sp>
        <p:nvSpPr>
          <p:cNvPr id="74" name="Shape 72"/>
          <p:cNvSpPr/>
          <p:nvPr/>
        </p:nvSpPr>
        <p:spPr>
          <a:xfrm>
            <a:off x="6766560" y="3118104"/>
            <a:ext cx="256032" cy="256032"/>
          </a:xfrm>
          <a:prstGeom prst="rect">
            <a:avLst/>
          </a:prstGeom>
          <a:solidFill>
            <a:srgbClr val="C85A2E"/>
          </a:solidFill>
          <a:ln/>
        </p:spPr>
      </p:sp>
      <p:sp>
        <p:nvSpPr>
          <p:cNvPr id="75" name="Text 73"/>
          <p:cNvSpPr/>
          <p:nvPr/>
        </p:nvSpPr>
        <p:spPr>
          <a:xfrm>
            <a:off x="7132320" y="3072384"/>
            <a:ext cx="3291840" cy="365760"/>
          </a:xfrm>
          <a:prstGeom prst="rect">
            <a:avLst/>
          </a:prstGeom>
          <a:noFill/>
          <a:ln/>
        </p:spPr>
        <p:txBody>
          <a:bodyPr wrap="square" rtlCol="0" anchor="ctr"/>
          <a:lstStyle/>
          <a:p>
            <a:pPr indent="0" marL="0">
              <a:buNone/>
            </a:pPr>
            <a:r>
              <a:rPr lang="en-US" sz="1200" dirty="0">
                <a:solidFill>
                  <a:srgbClr val="24272E"/>
                </a:solidFill>
                <a:latin typeface="Calibri" pitchFamily="34" charset="0"/>
                <a:ea typeface="Calibri" pitchFamily="34" charset="-122"/>
                <a:cs typeface="Calibri" pitchFamily="34" charset="-120"/>
              </a:rPr>
              <a:t>Rất cao (15-19)</a:t>
            </a:r>
            <a:endParaRPr lang="en-US" sz="1200" dirty="0"/>
          </a:p>
        </p:txBody>
      </p:sp>
      <p:sp>
        <p:nvSpPr>
          <p:cNvPr id="76" name="Shape 74"/>
          <p:cNvSpPr/>
          <p:nvPr/>
        </p:nvSpPr>
        <p:spPr>
          <a:xfrm>
            <a:off x="6766560" y="3593592"/>
            <a:ext cx="256032" cy="256032"/>
          </a:xfrm>
          <a:prstGeom prst="rect">
            <a:avLst/>
          </a:prstGeom>
          <a:solidFill>
            <a:srgbClr val="B23A2E"/>
          </a:solidFill>
          <a:ln/>
        </p:spPr>
      </p:sp>
      <p:sp>
        <p:nvSpPr>
          <p:cNvPr id="77" name="Text 75"/>
          <p:cNvSpPr/>
          <p:nvPr/>
        </p:nvSpPr>
        <p:spPr>
          <a:xfrm>
            <a:off x="7132320" y="3547872"/>
            <a:ext cx="3291840" cy="365760"/>
          </a:xfrm>
          <a:prstGeom prst="rect">
            <a:avLst/>
          </a:prstGeom>
          <a:noFill/>
          <a:ln/>
        </p:spPr>
        <p:txBody>
          <a:bodyPr wrap="square" rtlCol="0" anchor="ctr"/>
          <a:lstStyle/>
          <a:p>
            <a:pPr indent="0" marL="0">
              <a:buNone/>
            </a:pPr>
            <a:r>
              <a:rPr lang="en-US" sz="1200" dirty="0">
                <a:solidFill>
                  <a:srgbClr val="24272E"/>
                </a:solidFill>
                <a:latin typeface="Calibri" pitchFamily="34" charset="0"/>
                <a:ea typeface="Calibri" pitchFamily="34" charset="-122"/>
                <a:cs typeface="Calibri" pitchFamily="34" charset="-120"/>
              </a:rPr>
              <a:t>Nghiêm trọng (20-25)</a:t>
            </a:r>
            <a:endParaRPr lang="en-US" sz="1200" dirty="0"/>
          </a:p>
        </p:txBody>
      </p:sp>
      <p:sp>
        <p:nvSpPr>
          <p:cNvPr id="78" name="Shape 76"/>
          <p:cNvSpPr/>
          <p:nvPr/>
        </p:nvSpPr>
        <p:spPr>
          <a:xfrm>
            <a:off x="6766560" y="4297680"/>
            <a:ext cx="4892040" cy="1920240"/>
          </a:xfrm>
          <a:prstGeom prst="roundRect">
            <a:avLst>
              <a:gd name="adj" fmla="val 3810"/>
            </a:avLst>
          </a:prstGeom>
          <a:solidFill>
            <a:srgbClr val="F4F6FB"/>
          </a:solidFill>
          <a:ln/>
        </p:spPr>
      </p:sp>
      <p:sp>
        <p:nvSpPr>
          <p:cNvPr id="79" name="Text 77"/>
          <p:cNvSpPr/>
          <p:nvPr/>
        </p:nvSpPr>
        <p:spPr>
          <a:xfrm>
            <a:off x="6995160" y="4480560"/>
            <a:ext cx="4480560" cy="1600200"/>
          </a:xfrm>
          <a:prstGeom prst="rect">
            <a:avLst/>
          </a:prstGeom>
          <a:noFill/>
          <a:ln/>
        </p:spPr>
        <p:txBody>
          <a:bodyPr wrap="square" rtlCol="0" anchor="t"/>
          <a:lstStyle/>
          <a:p>
            <a:pPr indent="0" marL="0">
              <a:lnSpc>
                <a:spcPct val="115000"/>
              </a:lnSpc>
              <a:buNone/>
            </a:pPr>
            <a:r>
              <a:rPr lang="en-US" sz="1200" b="1" dirty="0">
                <a:solidFill>
                  <a:srgbClr val="B23A2E"/>
                </a:solidFill>
                <a:latin typeface="Calibri" pitchFamily="34" charset="0"/>
                <a:ea typeface="Calibri" pitchFamily="34" charset="-122"/>
                <a:cs typeface="Calibri" pitchFamily="34" charset="-120"/>
              </a:rPr>
              <a:t>Nhận xét:  </a:t>
            </a:r>
            <a:pPr indent="0" marL="0">
              <a:lnSpc>
                <a:spcPct val="115000"/>
              </a:lnSpc>
              <a:buNone/>
            </a:pPr>
            <a:r>
              <a:rPr lang="en-US" sz="1200" dirty="0">
                <a:solidFill>
                  <a:srgbClr val="24272E"/>
                </a:solidFill>
                <a:latin typeface="Calibri" pitchFamily="34" charset="0"/>
                <a:ea typeface="Calibri" pitchFamily="34" charset="-122"/>
                <a:cs typeface="Calibri" pitchFamily="34" charset="-120"/>
              </a:rPr>
              <a:t>R-02 và R-04 (điểm 20) nằm ở vùng Nghiêm trọng, cần xử lý ngay. R-01, R-06, R-14, R-16 nằm ở vùng Rất cao, cần lên kế hoạch xử lý trong ngắn hạn.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E2761"/>
                </a:solidFill>
                <a:latin typeface="Calibri" pitchFamily="34" charset="0"/>
                <a:ea typeface="Calibri" pitchFamily="34" charset="-122"/>
                <a:cs typeface="Calibri" pitchFamily="34" charset="-120"/>
              </a:rPr>
              <a:t>PHÂN TÍCH &amp; BIỆN PHÁP</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indent="0" marL="0">
              <a:buNone/>
            </a:pPr>
            <a:r>
              <a:rPr lang="en-US" sz="2800" b="1" dirty="0">
                <a:solidFill>
                  <a:srgbClr val="24272E"/>
                </a:solidFill>
                <a:latin typeface="Cambria" pitchFamily="34" charset="0"/>
                <a:ea typeface="Cambria" pitchFamily="34" charset="-122"/>
                <a:cs typeface="Cambria" pitchFamily="34" charset="-120"/>
              </a:rPr>
              <a:t>Kế hoạch xử lý 5 rủi ro có điểm số cao nhất</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indent="0" marL="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536192"/>
            <a:ext cx="11091672" cy="822960"/>
          </a:xfrm>
          <a:prstGeom prst="roundRect">
            <a:avLst>
              <a:gd name="adj" fmla="val 6667"/>
            </a:avLst>
          </a:prstGeom>
          <a:solidFill>
            <a:srgbClr val="F4F6FB"/>
          </a:solidFill>
          <a:ln/>
        </p:spPr>
      </p:sp>
      <p:sp>
        <p:nvSpPr>
          <p:cNvPr id="7" name="Shape 5"/>
          <p:cNvSpPr/>
          <p:nvPr/>
        </p:nvSpPr>
        <p:spPr>
          <a:xfrm>
            <a:off x="713232" y="1696212"/>
            <a:ext cx="502920" cy="502920"/>
          </a:xfrm>
          <a:prstGeom prst="ellipse">
            <a:avLst/>
          </a:prstGeom>
          <a:solidFill>
            <a:srgbClr val="1E2761"/>
          </a:solidFill>
          <a:ln/>
        </p:spPr>
      </p:sp>
      <p:sp>
        <p:nvSpPr>
          <p:cNvPr id="8" name="Text 6"/>
          <p:cNvSpPr/>
          <p:nvPr/>
        </p:nvSpPr>
        <p:spPr>
          <a:xfrm>
            <a:off x="713232" y="1696212"/>
            <a:ext cx="50292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R-02</a:t>
            </a:r>
            <a:endParaRPr lang="en-US" sz="1000" dirty="0"/>
          </a:p>
        </p:txBody>
      </p:sp>
      <p:sp>
        <p:nvSpPr>
          <p:cNvPr id="9" name="Text 7"/>
          <p:cNvSpPr/>
          <p:nvPr/>
        </p:nvSpPr>
        <p:spPr>
          <a:xfrm>
            <a:off x="1417320" y="1591056"/>
            <a:ext cx="5074920" cy="320040"/>
          </a:xfrm>
          <a:prstGeom prst="rect">
            <a:avLst/>
          </a:prstGeom>
          <a:noFill/>
          <a:ln/>
        </p:spPr>
        <p:txBody>
          <a:bodyPr wrap="square" rtlCol="0" anchor="ctr"/>
          <a:lstStyle/>
          <a:p>
            <a:pPr indent="0" marL="0">
              <a:buNone/>
            </a:pPr>
            <a:r>
              <a:rPr lang="en-US" sz="1250" b="1" dirty="0">
                <a:solidFill>
                  <a:srgbClr val="24272E"/>
                </a:solidFill>
                <a:latin typeface="Calibri" pitchFamily="34" charset="0"/>
                <a:ea typeface="Calibri" pitchFamily="34" charset="-122"/>
                <a:cs typeface="Calibri" pitchFamily="34" charset="-120"/>
              </a:rPr>
              <a:t>Gateway không cập nhật firmware định kỳ</a:t>
            </a:r>
            <a:endParaRPr lang="en-US" sz="1250" dirty="0"/>
          </a:p>
        </p:txBody>
      </p:sp>
      <p:sp>
        <p:nvSpPr>
          <p:cNvPr id="10" name="Text 8"/>
          <p:cNvSpPr/>
          <p:nvPr/>
        </p:nvSpPr>
        <p:spPr>
          <a:xfrm>
            <a:off x="1417320" y="1883664"/>
            <a:ext cx="5074920" cy="411480"/>
          </a:xfrm>
          <a:prstGeom prst="rect">
            <a:avLst/>
          </a:prstGeom>
          <a:noFill/>
          <a:ln/>
        </p:spPr>
        <p:txBody>
          <a:bodyPr wrap="square" rtlCol="0" anchor="t"/>
          <a:lstStyle/>
          <a:p>
            <a:pPr indent="0" marL="0">
              <a:lnSpc>
                <a:spcPct val="100000"/>
              </a:lnSpc>
              <a:buNone/>
            </a:pPr>
            <a:r>
              <a:rPr lang="en-US" sz="1000" dirty="0">
                <a:solidFill>
                  <a:srgbClr val="5B6270"/>
                </a:solidFill>
                <a:latin typeface="Calibri" pitchFamily="34" charset="0"/>
                <a:ea typeface="Calibri" pitchFamily="34" charset="-122"/>
                <a:cs typeface="Calibri" pitchFamily="34" charset="-120"/>
              </a:rPr>
              <a:t>Lập lịch cập nhật firmware; đăng ký cảnh báo bảo mật từ nhà sản xuất; kiểm thử trước khi triển khai</a:t>
            </a:r>
            <a:endParaRPr lang="en-US" sz="1000" dirty="0"/>
          </a:p>
        </p:txBody>
      </p:sp>
      <p:sp>
        <p:nvSpPr>
          <p:cNvPr id="11" name="Shape 9"/>
          <p:cNvSpPr/>
          <p:nvPr/>
        </p:nvSpPr>
        <p:spPr>
          <a:xfrm>
            <a:off x="6629400" y="1673352"/>
            <a:ext cx="1417320" cy="320040"/>
          </a:xfrm>
          <a:prstGeom prst="roundRect">
            <a:avLst>
              <a:gd name="adj" fmla="val 17143"/>
            </a:avLst>
          </a:prstGeom>
          <a:solidFill>
            <a:srgbClr val="B23A2E"/>
          </a:solidFill>
          <a:ln/>
        </p:spPr>
      </p:sp>
      <p:sp>
        <p:nvSpPr>
          <p:cNvPr id="12" name="Text 10"/>
          <p:cNvSpPr/>
          <p:nvPr/>
        </p:nvSpPr>
        <p:spPr>
          <a:xfrm>
            <a:off x="6629400" y="1673352"/>
            <a:ext cx="1417320" cy="3200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Nghiêm trọng</a:t>
            </a:r>
            <a:endParaRPr lang="en-US" sz="1050" dirty="0"/>
          </a:p>
        </p:txBody>
      </p:sp>
      <p:sp>
        <p:nvSpPr>
          <p:cNvPr id="13" name="Shape 11"/>
          <p:cNvSpPr/>
          <p:nvPr/>
        </p:nvSpPr>
        <p:spPr>
          <a:xfrm>
            <a:off x="8138160" y="1709928"/>
            <a:ext cx="365760" cy="246888"/>
          </a:xfrm>
          <a:prstGeom prst="rightArrow">
            <a:avLst/>
          </a:prstGeom>
          <a:solidFill>
            <a:srgbClr val="5B6270"/>
          </a:solidFill>
          <a:ln/>
        </p:spPr>
      </p:sp>
      <p:sp>
        <p:nvSpPr>
          <p:cNvPr id="14" name="Shape 12"/>
          <p:cNvSpPr/>
          <p:nvPr/>
        </p:nvSpPr>
        <p:spPr>
          <a:xfrm>
            <a:off x="8595360" y="1673352"/>
            <a:ext cx="1417320" cy="320040"/>
          </a:xfrm>
          <a:prstGeom prst="roundRect">
            <a:avLst>
              <a:gd name="adj" fmla="val 17143"/>
            </a:avLst>
          </a:prstGeom>
          <a:solidFill>
            <a:srgbClr val="D9A521"/>
          </a:solidFill>
          <a:ln/>
        </p:spPr>
      </p:sp>
      <p:sp>
        <p:nvSpPr>
          <p:cNvPr id="15" name="Text 13"/>
          <p:cNvSpPr/>
          <p:nvPr/>
        </p:nvSpPr>
        <p:spPr>
          <a:xfrm>
            <a:off x="8595360" y="1673352"/>
            <a:ext cx="1417320" cy="3200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Trung bình</a:t>
            </a:r>
            <a:endParaRPr lang="en-US" sz="1050" dirty="0"/>
          </a:p>
        </p:txBody>
      </p:sp>
      <p:sp>
        <p:nvSpPr>
          <p:cNvPr id="16" name="Text 14"/>
          <p:cNvSpPr/>
          <p:nvPr/>
        </p:nvSpPr>
        <p:spPr>
          <a:xfrm>
            <a:off x="6629400" y="2039112"/>
            <a:ext cx="3383280" cy="274320"/>
          </a:xfrm>
          <a:prstGeom prst="rect">
            <a:avLst/>
          </a:prstGeom>
          <a:noFill/>
          <a:ln/>
        </p:spPr>
        <p:txBody>
          <a:bodyPr wrap="square" rtlCol="0" anchor="ctr"/>
          <a:lstStyle/>
          <a:p>
            <a:pPr algn="ctr" indent="0" marL="0">
              <a:buNone/>
            </a:pPr>
            <a:r>
              <a:rPr lang="en-US" sz="850" i="1" dirty="0">
                <a:solidFill>
                  <a:srgbClr val="5B6270"/>
                </a:solidFill>
                <a:latin typeface="Calibri" pitchFamily="34" charset="0"/>
                <a:ea typeface="Calibri" pitchFamily="34" charset="-122"/>
                <a:cs typeface="Calibri" pitchFamily="34" charset="-120"/>
              </a:rPr>
              <a:t>Rủi ro còn lại sau xử lý</a:t>
            </a:r>
            <a:endParaRPr lang="en-US" sz="850" dirty="0"/>
          </a:p>
        </p:txBody>
      </p:sp>
      <p:sp>
        <p:nvSpPr>
          <p:cNvPr id="17" name="Shape 15"/>
          <p:cNvSpPr/>
          <p:nvPr/>
        </p:nvSpPr>
        <p:spPr>
          <a:xfrm>
            <a:off x="548640" y="2450592"/>
            <a:ext cx="11091672" cy="822960"/>
          </a:xfrm>
          <a:prstGeom prst="roundRect">
            <a:avLst>
              <a:gd name="adj" fmla="val 6667"/>
            </a:avLst>
          </a:prstGeom>
          <a:solidFill>
            <a:srgbClr val="F4F6FB"/>
          </a:solidFill>
          <a:ln/>
        </p:spPr>
      </p:sp>
      <p:sp>
        <p:nvSpPr>
          <p:cNvPr id="18" name="Shape 16"/>
          <p:cNvSpPr/>
          <p:nvPr/>
        </p:nvSpPr>
        <p:spPr>
          <a:xfrm>
            <a:off x="713232" y="2610612"/>
            <a:ext cx="502920" cy="502920"/>
          </a:xfrm>
          <a:prstGeom prst="ellipse">
            <a:avLst/>
          </a:prstGeom>
          <a:solidFill>
            <a:srgbClr val="1E2761"/>
          </a:solidFill>
          <a:ln/>
        </p:spPr>
      </p:sp>
      <p:sp>
        <p:nvSpPr>
          <p:cNvPr id="19" name="Text 17"/>
          <p:cNvSpPr/>
          <p:nvPr/>
        </p:nvSpPr>
        <p:spPr>
          <a:xfrm>
            <a:off x="713232" y="2610612"/>
            <a:ext cx="50292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R-04</a:t>
            </a:r>
            <a:endParaRPr lang="en-US" sz="1000" dirty="0"/>
          </a:p>
        </p:txBody>
      </p:sp>
      <p:sp>
        <p:nvSpPr>
          <p:cNvPr id="20" name="Text 18"/>
          <p:cNvSpPr/>
          <p:nvPr/>
        </p:nvSpPr>
        <p:spPr>
          <a:xfrm>
            <a:off x="1417320" y="2505456"/>
            <a:ext cx="5074920" cy="320040"/>
          </a:xfrm>
          <a:prstGeom prst="rect">
            <a:avLst/>
          </a:prstGeom>
          <a:noFill/>
          <a:ln/>
        </p:spPr>
        <p:txBody>
          <a:bodyPr wrap="square" rtlCol="0" anchor="ctr"/>
          <a:lstStyle/>
          <a:p>
            <a:pPr indent="0" marL="0">
              <a:buNone/>
            </a:pPr>
            <a:r>
              <a:rPr lang="en-US" sz="1250" b="1" dirty="0">
                <a:solidFill>
                  <a:srgbClr val="24272E"/>
                </a:solidFill>
                <a:latin typeface="Calibri" pitchFamily="34" charset="0"/>
                <a:ea typeface="Calibri" pitchFamily="34" charset="-122"/>
                <a:cs typeface="Calibri" pitchFamily="34" charset="-120"/>
              </a:rPr>
              <a:t>Tài khoản quản trị dùng mật khẩu yếu, không có MFA</a:t>
            </a:r>
            <a:endParaRPr lang="en-US" sz="1250" dirty="0"/>
          </a:p>
        </p:txBody>
      </p:sp>
      <p:sp>
        <p:nvSpPr>
          <p:cNvPr id="21" name="Text 19"/>
          <p:cNvSpPr/>
          <p:nvPr/>
        </p:nvSpPr>
        <p:spPr>
          <a:xfrm>
            <a:off x="1417320" y="2798064"/>
            <a:ext cx="5074920" cy="411480"/>
          </a:xfrm>
          <a:prstGeom prst="rect">
            <a:avLst/>
          </a:prstGeom>
          <a:noFill/>
          <a:ln/>
        </p:spPr>
        <p:txBody>
          <a:bodyPr wrap="square" rtlCol="0" anchor="t"/>
          <a:lstStyle/>
          <a:p>
            <a:pPr indent="0" marL="0">
              <a:lnSpc>
                <a:spcPct val="100000"/>
              </a:lnSpc>
              <a:buNone/>
            </a:pPr>
            <a:r>
              <a:rPr lang="en-US" sz="1000" dirty="0">
                <a:solidFill>
                  <a:srgbClr val="5B6270"/>
                </a:solidFill>
                <a:latin typeface="Calibri" pitchFamily="34" charset="0"/>
                <a:ea typeface="Calibri" pitchFamily="34" charset="-122"/>
                <a:cs typeface="Calibri" pitchFamily="34" charset="-120"/>
              </a:rPr>
              <a:t>Áp dụng chính sách mật khẩu mạnh, bắt buộc xác thực đa yếu tố (MFA); khóa tài khoản sau nhiều lần sai</a:t>
            </a:r>
            <a:endParaRPr lang="en-US" sz="1000" dirty="0"/>
          </a:p>
        </p:txBody>
      </p:sp>
      <p:sp>
        <p:nvSpPr>
          <p:cNvPr id="22" name="Shape 20"/>
          <p:cNvSpPr/>
          <p:nvPr/>
        </p:nvSpPr>
        <p:spPr>
          <a:xfrm>
            <a:off x="6629400" y="2587752"/>
            <a:ext cx="1417320" cy="320040"/>
          </a:xfrm>
          <a:prstGeom prst="roundRect">
            <a:avLst>
              <a:gd name="adj" fmla="val 17143"/>
            </a:avLst>
          </a:prstGeom>
          <a:solidFill>
            <a:srgbClr val="B23A2E"/>
          </a:solidFill>
          <a:ln/>
        </p:spPr>
      </p:sp>
      <p:sp>
        <p:nvSpPr>
          <p:cNvPr id="23" name="Text 21"/>
          <p:cNvSpPr/>
          <p:nvPr/>
        </p:nvSpPr>
        <p:spPr>
          <a:xfrm>
            <a:off x="6629400" y="2587752"/>
            <a:ext cx="1417320" cy="3200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Nghiêm trọng</a:t>
            </a:r>
            <a:endParaRPr lang="en-US" sz="1050" dirty="0"/>
          </a:p>
        </p:txBody>
      </p:sp>
      <p:sp>
        <p:nvSpPr>
          <p:cNvPr id="24" name="Shape 22"/>
          <p:cNvSpPr/>
          <p:nvPr/>
        </p:nvSpPr>
        <p:spPr>
          <a:xfrm>
            <a:off x="8138160" y="2624328"/>
            <a:ext cx="365760" cy="246888"/>
          </a:xfrm>
          <a:prstGeom prst="rightArrow">
            <a:avLst/>
          </a:prstGeom>
          <a:solidFill>
            <a:srgbClr val="5B6270"/>
          </a:solidFill>
          <a:ln/>
        </p:spPr>
      </p:sp>
      <p:sp>
        <p:nvSpPr>
          <p:cNvPr id="25" name="Shape 23"/>
          <p:cNvSpPr/>
          <p:nvPr/>
        </p:nvSpPr>
        <p:spPr>
          <a:xfrm>
            <a:off x="8595360" y="2587752"/>
            <a:ext cx="1417320" cy="320040"/>
          </a:xfrm>
          <a:prstGeom prst="roundRect">
            <a:avLst>
              <a:gd name="adj" fmla="val 17143"/>
            </a:avLst>
          </a:prstGeom>
          <a:solidFill>
            <a:srgbClr val="2E9E5B"/>
          </a:solidFill>
          <a:ln/>
        </p:spPr>
      </p:sp>
      <p:sp>
        <p:nvSpPr>
          <p:cNvPr id="26" name="Text 24"/>
          <p:cNvSpPr/>
          <p:nvPr/>
        </p:nvSpPr>
        <p:spPr>
          <a:xfrm>
            <a:off x="8595360" y="2587752"/>
            <a:ext cx="1417320" cy="3200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Thấp</a:t>
            </a:r>
            <a:endParaRPr lang="en-US" sz="1050" dirty="0"/>
          </a:p>
        </p:txBody>
      </p:sp>
      <p:sp>
        <p:nvSpPr>
          <p:cNvPr id="27" name="Text 25"/>
          <p:cNvSpPr/>
          <p:nvPr/>
        </p:nvSpPr>
        <p:spPr>
          <a:xfrm>
            <a:off x="6629400" y="2953512"/>
            <a:ext cx="3383280" cy="274320"/>
          </a:xfrm>
          <a:prstGeom prst="rect">
            <a:avLst/>
          </a:prstGeom>
          <a:noFill/>
          <a:ln/>
        </p:spPr>
        <p:txBody>
          <a:bodyPr wrap="square" rtlCol="0" anchor="ctr"/>
          <a:lstStyle/>
          <a:p>
            <a:pPr algn="ctr" indent="0" marL="0">
              <a:buNone/>
            </a:pPr>
            <a:r>
              <a:rPr lang="en-US" sz="850" i="1" dirty="0">
                <a:solidFill>
                  <a:srgbClr val="5B6270"/>
                </a:solidFill>
                <a:latin typeface="Calibri" pitchFamily="34" charset="0"/>
                <a:ea typeface="Calibri" pitchFamily="34" charset="-122"/>
                <a:cs typeface="Calibri" pitchFamily="34" charset="-120"/>
              </a:rPr>
              <a:t>Rủi ro còn lại sau xử lý</a:t>
            </a:r>
            <a:endParaRPr lang="en-US" sz="850" dirty="0"/>
          </a:p>
        </p:txBody>
      </p:sp>
      <p:sp>
        <p:nvSpPr>
          <p:cNvPr id="28" name="Shape 26"/>
          <p:cNvSpPr/>
          <p:nvPr/>
        </p:nvSpPr>
        <p:spPr>
          <a:xfrm>
            <a:off x="548640" y="3364992"/>
            <a:ext cx="11091672" cy="822960"/>
          </a:xfrm>
          <a:prstGeom prst="roundRect">
            <a:avLst>
              <a:gd name="adj" fmla="val 6667"/>
            </a:avLst>
          </a:prstGeom>
          <a:solidFill>
            <a:srgbClr val="F4F6FB"/>
          </a:solidFill>
          <a:ln/>
        </p:spPr>
      </p:sp>
      <p:sp>
        <p:nvSpPr>
          <p:cNvPr id="29" name="Shape 27"/>
          <p:cNvSpPr/>
          <p:nvPr/>
        </p:nvSpPr>
        <p:spPr>
          <a:xfrm>
            <a:off x="713232" y="3525012"/>
            <a:ext cx="502920" cy="502920"/>
          </a:xfrm>
          <a:prstGeom prst="ellipse">
            <a:avLst/>
          </a:prstGeom>
          <a:solidFill>
            <a:srgbClr val="1E2761"/>
          </a:solidFill>
          <a:ln/>
        </p:spPr>
      </p:sp>
      <p:sp>
        <p:nvSpPr>
          <p:cNvPr id="30" name="Text 28"/>
          <p:cNvSpPr/>
          <p:nvPr/>
        </p:nvSpPr>
        <p:spPr>
          <a:xfrm>
            <a:off x="713232" y="3525012"/>
            <a:ext cx="50292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R-16</a:t>
            </a:r>
            <a:endParaRPr lang="en-US" sz="1000" dirty="0"/>
          </a:p>
        </p:txBody>
      </p:sp>
      <p:sp>
        <p:nvSpPr>
          <p:cNvPr id="31" name="Text 29"/>
          <p:cNvSpPr/>
          <p:nvPr/>
        </p:nvSpPr>
        <p:spPr>
          <a:xfrm>
            <a:off x="1417320" y="3419856"/>
            <a:ext cx="5074920" cy="320040"/>
          </a:xfrm>
          <a:prstGeom prst="rect">
            <a:avLst/>
          </a:prstGeom>
          <a:noFill/>
          <a:ln/>
        </p:spPr>
        <p:txBody>
          <a:bodyPr wrap="square" rtlCol="0" anchor="ctr"/>
          <a:lstStyle/>
          <a:p>
            <a:pPr indent="0" marL="0">
              <a:buNone/>
            </a:pPr>
            <a:r>
              <a:rPr lang="en-US" sz="1250" b="1" dirty="0">
                <a:solidFill>
                  <a:srgbClr val="24272E"/>
                </a:solidFill>
                <a:latin typeface="Calibri" pitchFamily="34" charset="0"/>
                <a:ea typeface="Calibri" pitchFamily="34" charset="-122"/>
                <a:cs typeface="Calibri" pitchFamily="34" charset="-120"/>
              </a:rPr>
              <a:t>Khóa cửa thông minh bị mở khóa trái phép (replay attack)</a:t>
            </a:r>
            <a:endParaRPr lang="en-US" sz="1250" dirty="0"/>
          </a:p>
        </p:txBody>
      </p:sp>
      <p:sp>
        <p:nvSpPr>
          <p:cNvPr id="32" name="Text 30"/>
          <p:cNvSpPr/>
          <p:nvPr/>
        </p:nvSpPr>
        <p:spPr>
          <a:xfrm>
            <a:off x="1417320" y="3712464"/>
            <a:ext cx="5074920" cy="411480"/>
          </a:xfrm>
          <a:prstGeom prst="rect">
            <a:avLst/>
          </a:prstGeom>
          <a:noFill/>
          <a:ln/>
        </p:spPr>
        <p:txBody>
          <a:bodyPr wrap="square" rtlCol="0" anchor="t"/>
          <a:lstStyle/>
          <a:p>
            <a:pPr indent="0" marL="0">
              <a:lnSpc>
                <a:spcPct val="100000"/>
              </a:lnSpc>
              <a:buNone/>
            </a:pPr>
            <a:r>
              <a:rPr lang="en-US" sz="1000" dirty="0">
                <a:solidFill>
                  <a:srgbClr val="5B6270"/>
                </a:solidFill>
                <a:latin typeface="Calibri" pitchFamily="34" charset="0"/>
                <a:ea typeface="Calibri" pitchFamily="34" charset="-122"/>
                <a:cs typeface="Calibri" pitchFamily="34" charset="-120"/>
              </a:rPr>
              <a:t>Áp dụng mã hóa và cơ chế chống lặp lại tín hiệu (rolling code); giới hạn khoảng cách kết nối</a:t>
            </a:r>
            <a:endParaRPr lang="en-US" sz="1000" dirty="0"/>
          </a:p>
        </p:txBody>
      </p:sp>
      <p:sp>
        <p:nvSpPr>
          <p:cNvPr id="33" name="Shape 31"/>
          <p:cNvSpPr/>
          <p:nvPr/>
        </p:nvSpPr>
        <p:spPr>
          <a:xfrm>
            <a:off x="6629400" y="3502152"/>
            <a:ext cx="1417320" cy="320040"/>
          </a:xfrm>
          <a:prstGeom prst="roundRect">
            <a:avLst>
              <a:gd name="adj" fmla="val 17143"/>
            </a:avLst>
          </a:prstGeom>
          <a:solidFill>
            <a:srgbClr val="C85A2E"/>
          </a:solidFill>
          <a:ln/>
        </p:spPr>
      </p:sp>
      <p:sp>
        <p:nvSpPr>
          <p:cNvPr id="34" name="Text 32"/>
          <p:cNvSpPr/>
          <p:nvPr/>
        </p:nvSpPr>
        <p:spPr>
          <a:xfrm>
            <a:off x="6629400" y="3502152"/>
            <a:ext cx="1417320" cy="3200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Rất cao</a:t>
            </a:r>
            <a:endParaRPr lang="en-US" sz="1050" dirty="0"/>
          </a:p>
        </p:txBody>
      </p:sp>
      <p:sp>
        <p:nvSpPr>
          <p:cNvPr id="35" name="Shape 33"/>
          <p:cNvSpPr/>
          <p:nvPr/>
        </p:nvSpPr>
        <p:spPr>
          <a:xfrm>
            <a:off x="8138160" y="3538728"/>
            <a:ext cx="365760" cy="246888"/>
          </a:xfrm>
          <a:prstGeom prst="rightArrow">
            <a:avLst/>
          </a:prstGeom>
          <a:solidFill>
            <a:srgbClr val="5B6270"/>
          </a:solidFill>
          <a:ln/>
        </p:spPr>
      </p:sp>
      <p:sp>
        <p:nvSpPr>
          <p:cNvPr id="36" name="Shape 34"/>
          <p:cNvSpPr/>
          <p:nvPr/>
        </p:nvSpPr>
        <p:spPr>
          <a:xfrm>
            <a:off x="8595360" y="3502152"/>
            <a:ext cx="1417320" cy="320040"/>
          </a:xfrm>
          <a:prstGeom prst="roundRect">
            <a:avLst>
              <a:gd name="adj" fmla="val 17143"/>
            </a:avLst>
          </a:prstGeom>
          <a:solidFill>
            <a:srgbClr val="2E9E5B"/>
          </a:solidFill>
          <a:ln/>
        </p:spPr>
      </p:sp>
      <p:sp>
        <p:nvSpPr>
          <p:cNvPr id="37" name="Text 35"/>
          <p:cNvSpPr/>
          <p:nvPr/>
        </p:nvSpPr>
        <p:spPr>
          <a:xfrm>
            <a:off x="8595360" y="3502152"/>
            <a:ext cx="1417320" cy="3200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Thấp</a:t>
            </a:r>
            <a:endParaRPr lang="en-US" sz="1050" dirty="0"/>
          </a:p>
        </p:txBody>
      </p:sp>
      <p:sp>
        <p:nvSpPr>
          <p:cNvPr id="38" name="Text 36"/>
          <p:cNvSpPr/>
          <p:nvPr/>
        </p:nvSpPr>
        <p:spPr>
          <a:xfrm>
            <a:off x="6629400" y="3867912"/>
            <a:ext cx="3383280" cy="274320"/>
          </a:xfrm>
          <a:prstGeom prst="rect">
            <a:avLst/>
          </a:prstGeom>
          <a:noFill/>
          <a:ln/>
        </p:spPr>
        <p:txBody>
          <a:bodyPr wrap="square" rtlCol="0" anchor="ctr"/>
          <a:lstStyle/>
          <a:p>
            <a:pPr algn="ctr" indent="0" marL="0">
              <a:buNone/>
            </a:pPr>
            <a:r>
              <a:rPr lang="en-US" sz="850" i="1" dirty="0">
                <a:solidFill>
                  <a:srgbClr val="5B6270"/>
                </a:solidFill>
                <a:latin typeface="Calibri" pitchFamily="34" charset="0"/>
                <a:ea typeface="Calibri" pitchFamily="34" charset="-122"/>
                <a:cs typeface="Calibri" pitchFamily="34" charset="-120"/>
              </a:rPr>
              <a:t>Rủi ro còn lại sau xử lý</a:t>
            </a:r>
            <a:endParaRPr lang="en-US" sz="850" dirty="0"/>
          </a:p>
        </p:txBody>
      </p:sp>
      <p:sp>
        <p:nvSpPr>
          <p:cNvPr id="39" name="Shape 37"/>
          <p:cNvSpPr/>
          <p:nvPr/>
        </p:nvSpPr>
        <p:spPr>
          <a:xfrm>
            <a:off x="548640" y="4279392"/>
            <a:ext cx="11091672" cy="822960"/>
          </a:xfrm>
          <a:prstGeom prst="roundRect">
            <a:avLst>
              <a:gd name="adj" fmla="val 6667"/>
            </a:avLst>
          </a:prstGeom>
          <a:solidFill>
            <a:srgbClr val="F4F6FB"/>
          </a:solidFill>
          <a:ln/>
        </p:spPr>
      </p:sp>
      <p:sp>
        <p:nvSpPr>
          <p:cNvPr id="40" name="Shape 38"/>
          <p:cNvSpPr/>
          <p:nvPr/>
        </p:nvSpPr>
        <p:spPr>
          <a:xfrm>
            <a:off x="713232" y="4439412"/>
            <a:ext cx="502920" cy="502920"/>
          </a:xfrm>
          <a:prstGeom prst="ellipse">
            <a:avLst/>
          </a:prstGeom>
          <a:solidFill>
            <a:srgbClr val="1E2761"/>
          </a:solidFill>
          <a:ln/>
        </p:spPr>
      </p:sp>
      <p:sp>
        <p:nvSpPr>
          <p:cNvPr id="41" name="Text 39"/>
          <p:cNvSpPr/>
          <p:nvPr/>
        </p:nvSpPr>
        <p:spPr>
          <a:xfrm>
            <a:off x="713232" y="4439412"/>
            <a:ext cx="50292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R-01</a:t>
            </a:r>
            <a:endParaRPr lang="en-US" sz="1000" dirty="0"/>
          </a:p>
        </p:txBody>
      </p:sp>
      <p:sp>
        <p:nvSpPr>
          <p:cNvPr id="42" name="Text 40"/>
          <p:cNvSpPr/>
          <p:nvPr/>
        </p:nvSpPr>
        <p:spPr>
          <a:xfrm>
            <a:off x="1417320" y="4334256"/>
            <a:ext cx="5074920" cy="320040"/>
          </a:xfrm>
          <a:prstGeom prst="rect">
            <a:avLst/>
          </a:prstGeom>
          <a:noFill/>
          <a:ln/>
        </p:spPr>
        <p:txBody>
          <a:bodyPr wrap="square" rtlCol="0" anchor="ctr"/>
          <a:lstStyle/>
          <a:p>
            <a:pPr indent="0" marL="0">
              <a:buNone/>
            </a:pPr>
            <a:r>
              <a:rPr lang="en-US" sz="1250" b="1" dirty="0">
                <a:solidFill>
                  <a:srgbClr val="24272E"/>
                </a:solidFill>
                <a:latin typeface="Calibri" pitchFamily="34" charset="0"/>
                <a:ea typeface="Calibri" pitchFamily="34" charset="-122"/>
                <a:cs typeface="Calibri" pitchFamily="34" charset="-120"/>
              </a:rPr>
              <a:t>Camera IP dùng mật khẩu mặc định</a:t>
            </a:r>
            <a:endParaRPr lang="en-US" sz="1250" dirty="0"/>
          </a:p>
        </p:txBody>
      </p:sp>
      <p:sp>
        <p:nvSpPr>
          <p:cNvPr id="43" name="Text 41"/>
          <p:cNvSpPr/>
          <p:nvPr/>
        </p:nvSpPr>
        <p:spPr>
          <a:xfrm>
            <a:off x="1417320" y="4626864"/>
            <a:ext cx="5074920" cy="411480"/>
          </a:xfrm>
          <a:prstGeom prst="rect">
            <a:avLst/>
          </a:prstGeom>
          <a:noFill/>
          <a:ln/>
        </p:spPr>
        <p:txBody>
          <a:bodyPr wrap="square" rtlCol="0" anchor="t"/>
          <a:lstStyle/>
          <a:p>
            <a:pPr indent="0" marL="0">
              <a:lnSpc>
                <a:spcPct val="100000"/>
              </a:lnSpc>
              <a:buNone/>
            </a:pPr>
            <a:r>
              <a:rPr lang="en-US" sz="1000" dirty="0">
                <a:solidFill>
                  <a:srgbClr val="5B6270"/>
                </a:solidFill>
                <a:latin typeface="Calibri" pitchFamily="34" charset="0"/>
                <a:ea typeface="Calibri" pitchFamily="34" charset="-122"/>
                <a:cs typeface="Calibri" pitchFamily="34" charset="-120"/>
              </a:rPr>
              <a:t>Bắt buộc đổi mật khẩu khi cài đặt; vô hiệu hóa tài khoản mặc định; đặt thiết bị trong VLAN riêng</a:t>
            </a:r>
            <a:endParaRPr lang="en-US" sz="1000" dirty="0"/>
          </a:p>
        </p:txBody>
      </p:sp>
      <p:sp>
        <p:nvSpPr>
          <p:cNvPr id="44" name="Shape 42"/>
          <p:cNvSpPr/>
          <p:nvPr/>
        </p:nvSpPr>
        <p:spPr>
          <a:xfrm>
            <a:off x="6629400" y="4416552"/>
            <a:ext cx="1417320" cy="320040"/>
          </a:xfrm>
          <a:prstGeom prst="roundRect">
            <a:avLst>
              <a:gd name="adj" fmla="val 17143"/>
            </a:avLst>
          </a:prstGeom>
          <a:solidFill>
            <a:srgbClr val="C85A2E"/>
          </a:solidFill>
          <a:ln/>
        </p:spPr>
      </p:sp>
      <p:sp>
        <p:nvSpPr>
          <p:cNvPr id="45" name="Text 43"/>
          <p:cNvSpPr/>
          <p:nvPr/>
        </p:nvSpPr>
        <p:spPr>
          <a:xfrm>
            <a:off x="6629400" y="4416552"/>
            <a:ext cx="1417320" cy="3200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Rất cao</a:t>
            </a:r>
            <a:endParaRPr lang="en-US" sz="1050" dirty="0"/>
          </a:p>
        </p:txBody>
      </p:sp>
      <p:sp>
        <p:nvSpPr>
          <p:cNvPr id="46" name="Shape 44"/>
          <p:cNvSpPr/>
          <p:nvPr/>
        </p:nvSpPr>
        <p:spPr>
          <a:xfrm>
            <a:off x="8138160" y="4453128"/>
            <a:ext cx="365760" cy="246888"/>
          </a:xfrm>
          <a:prstGeom prst="rightArrow">
            <a:avLst/>
          </a:prstGeom>
          <a:solidFill>
            <a:srgbClr val="5B6270"/>
          </a:solidFill>
          <a:ln/>
        </p:spPr>
      </p:sp>
      <p:sp>
        <p:nvSpPr>
          <p:cNvPr id="47" name="Shape 45"/>
          <p:cNvSpPr/>
          <p:nvPr/>
        </p:nvSpPr>
        <p:spPr>
          <a:xfrm>
            <a:off x="8595360" y="4416552"/>
            <a:ext cx="1417320" cy="320040"/>
          </a:xfrm>
          <a:prstGeom prst="roundRect">
            <a:avLst>
              <a:gd name="adj" fmla="val 17143"/>
            </a:avLst>
          </a:prstGeom>
          <a:solidFill>
            <a:srgbClr val="2E9E5B"/>
          </a:solidFill>
          <a:ln/>
        </p:spPr>
      </p:sp>
      <p:sp>
        <p:nvSpPr>
          <p:cNvPr id="48" name="Text 46"/>
          <p:cNvSpPr/>
          <p:nvPr/>
        </p:nvSpPr>
        <p:spPr>
          <a:xfrm>
            <a:off x="8595360" y="4416552"/>
            <a:ext cx="1417320" cy="3200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Thấp</a:t>
            </a:r>
            <a:endParaRPr lang="en-US" sz="1050" dirty="0"/>
          </a:p>
        </p:txBody>
      </p:sp>
      <p:sp>
        <p:nvSpPr>
          <p:cNvPr id="49" name="Text 47"/>
          <p:cNvSpPr/>
          <p:nvPr/>
        </p:nvSpPr>
        <p:spPr>
          <a:xfrm>
            <a:off x="6629400" y="4782312"/>
            <a:ext cx="3383280" cy="274320"/>
          </a:xfrm>
          <a:prstGeom prst="rect">
            <a:avLst/>
          </a:prstGeom>
          <a:noFill/>
          <a:ln/>
        </p:spPr>
        <p:txBody>
          <a:bodyPr wrap="square" rtlCol="0" anchor="ctr"/>
          <a:lstStyle/>
          <a:p>
            <a:pPr algn="ctr" indent="0" marL="0">
              <a:buNone/>
            </a:pPr>
            <a:r>
              <a:rPr lang="en-US" sz="850" i="1" dirty="0">
                <a:solidFill>
                  <a:srgbClr val="5B6270"/>
                </a:solidFill>
                <a:latin typeface="Calibri" pitchFamily="34" charset="0"/>
                <a:ea typeface="Calibri" pitchFamily="34" charset="-122"/>
                <a:cs typeface="Calibri" pitchFamily="34" charset="-120"/>
              </a:rPr>
              <a:t>Rủi ro còn lại sau xử lý</a:t>
            </a:r>
            <a:endParaRPr lang="en-US" sz="850" dirty="0"/>
          </a:p>
        </p:txBody>
      </p:sp>
      <p:sp>
        <p:nvSpPr>
          <p:cNvPr id="50" name="Shape 48"/>
          <p:cNvSpPr/>
          <p:nvPr/>
        </p:nvSpPr>
        <p:spPr>
          <a:xfrm>
            <a:off x="548640" y="5193792"/>
            <a:ext cx="11091672" cy="822960"/>
          </a:xfrm>
          <a:prstGeom prst="roundRect">
            <a:avLst>
              <a:gd name="adj" fmla="val 6667"/>
            </a:avLst>
          </a:prstGeom>
          <a:solidFill>
            <a:srgbClr val="F4F6FB"/>
          </a:solidFill>
          <a:ln/>
        </p:spPr>
      </p:sp>
      <p:sp>
        <p:nvSpPr>
          <p:cNvPr id="51" name="Shape 49"/>
          <p:cNvSpPr/>
          <p:nvPr/>
        </p:nvSpPr>
        <p:spPr>
          <a:xfrm>
            <a:off x="713232" y="5353812"/>
            <a:ext cx="502920" cy="502920"/>
          </a:xfrm>
          <a:prstGeom prst="ellipse">
            <a:avLst/>
          </a:prstGeom>
          <a:solidFill>
            <a:srgbClr val="1E2761"/>
          </a:solidFill>
          <a:ln/>
        </p:spPr>
      </p:sp>
      <p:sp>
        <p:nvSpPr>
          <p:cNvPr id="52" name="Text 50"/>
          <p:cNvSpPr/>
          <p:nvPr/>
        </p:nvSpPr>
        <p:spPr>
          <a:xfrm>
            <a:off x="713232" y="5353812"/>
            <a:ext cx="50292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R-06</a:t>
            </a:r>
            <a:endParaRPr lang="en-US" sz="1000" dirty="0"/>
          </a:p>
        </p:txBody>
      </p:sp>
      <p:sp>
        <p:nvSpPr>
          <p:cNvPr id="53" name="Text 51"/>
          <p:cNvSpPr/>
          <p:nvPr/>
        </p:nvSpPr>
        <p:spPr>
          <a:xfrm>
            <a:off x="1417320" y="5248656"/>
            <a:ext cx="5074920" cy="320040"/>
          </a:xfrm>
          <a:prstGeom prst="rect">
            <a:avLst/>
          </a:prstGeom>
          <a:noFill/>
          <a:ln/>
        </p:spPr>
        <p:txBody>
          <a:bodyPr wrap="square" rtlCol="0" anchor="ctr"/>
          <a:lstStyle/>
          <a:p>
            <a:pPr indent="0" marL="0">
              <a:buNone/>
            </a:pPr>
            <a:r>
              <a:rPr lang="en-US" sz="1250" b="1" dirty="0">
                <a:solidFill>
                  <a:srgbClr val="24272E"/>
                </a:solidFill>
                <a:latin typeface="Calibri" pitchFamily="34" charset="0"/>
                <a:ea typeface="Calibri" pitchFamily="34" charset="-122"/>
                <a:cs typeface="Calibri" pitchFamily="34" charset="-120"/>
              </a:rPr>
              <a:t>Firmware thiết bị lỗi thời, chứa CVE đã công bố</a:t>
            </a:r>
            <a:endParaRPr lang="en-US" sz="1250" dirty="0"/>
          </a:p>
        </p:txBody>
      </p:sp>
      <p:sp>
        <p:nvSpPr>
          <p:cNvPr id="54" name="Text 52"/>
          <p:cNvSpPr/>
          <p:nvPr/>
        </p:nvSpPr>
        <p:spPr>
          <a:xfrm>
            <a:off x="1417320" y="5541264"/>
            <a:ext cx="5074920" cy="411480"/>
          </a:xfrm>
          <a:prstGeom prst="rect">
            <a:avLst/>
          </a:prstGeom>
          <a:noFill/>
          <a:ln/>
        </p:spPr>
        <p:txBody>
          <a:bodyPr wrap="square" rtlCol="0" anchor="t"/>
          <a:lstStyle/>
          <a:p>
            <a:pPr indent="0" marL="0">
              <a:lnSpc>
                <a:spcPct val="100000"/>
              </a:lnSpc>
              <a:buNone/>
            </a:pPr>
            <a:r>
              <a:rPr lang="en-US" sz="1000" dirty="0">
                <a:solidFill>
                  <a:srgbClr val="5B6270"/>
                </a:solidFill>
                <a:latin typeface="Calibri" pitchFamily="34" charset="0"/>
                <a:ea typeface="Calibri" pitchFamily="34" charset="-122"/>
                <a:cs typeface="Calibri" pitchFamily="34" charset="-120"/>
              </a:rPr>
              <a:t>Thay thế thiết bị không còn hỗ trợ; quét lỗ hổng định kỳ; vá lỗi ngay khi có bản cập nhật</a:t>
            </a:r>
            <a:endParaRPr lang="en-US" sz="1000" dirty="0"/>
          </a:p>
        </p:txBody>
      </p:sp>
      <p:sp>
        <p:nvSpPr>
          <p:cNvPr id="55" name="Shape 53"/>
          <p:cNvSpPr/>
          <p:nvPr/>
        </p:nvSpPr>
        <p:spPr>
          <a:xfrm>
            <a:off x="6629400" y="5330952"/>
            <a:ext cx="1417320" cy="320040"/>
          </a:xfrm>
          <a:prstGeom prst="roundRect">
            <a:avLst>
              <a:gd name="adj" fmla="val 17143"/>
            </a:avLst>
          </a:prstGeom>
          <a:solidFill>
            <a:srgbClr val="C85A2E"/>
          </a:solidFill>
          <a:ln/>
        </p:spPr>
      </p:sp>
      <p:sp>
        <p:nvSpPr>
          <p:cNvPr id="56" name="Text 54"/>
          <p:cNvSpPr/>
          <p:nvPr/>
        </p:nvSpPr>
        <p:spPr>
          <a:xfrm>
            <a:off x="6629400" y="5330952"/>
            <a:ext cx="1417320" cy="3200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Rất cao</a:t>
            </a:r>
            <a:endParaRPr lang="en-US" sz="1050" dirty="0"/>
          </a:p>
        </p:txBody>
      </p:sp>
      <p:sp>
        <p:nvSpPr>
          <p:cNvPr id="57" name="Shape 55"/>
          <p:cNvSpPr/>
          <p:nvPr/>
        </p:nvSpPr>
        <p:spPr>
          <a:xfrm>
            <a:off x="8138160" y="5367528"/>
            <a:ext cx="365760" cy="246888"/>
          </a:xfrm>
          <a:prstGeom prst="rightArrow">
            <a:avLst/>
          </a:prstGeom>
          <a:solidFill>
            <a:srgbClr val="5B6270"/>
          </a:solidFill>
          <a:ln/>
        </p:spPr>
      </p:sp>
      <p:sp>
        <p:nvSpPr>
          <p:cNvPr id="58" name="Shape 56"/>
          <p:cNvSpPr/>
          <p:nvPr/>
        </p:nvSpPr>
        <p:spPr>
          <a:xfrm>
            <a:off x="8595360" y="5330952"/>
            <a:ext cx="1417320" cy="320040"/>
          </a:xfrm>
          <a:prstGeom prst="roundRect">
            <a:avLst>
              <a:gd name="adj" fmla="val 17143"/>
            </a:avLst>
          </a:prstGeom>
          <a:solidFill>
            <a:srgbClr val="2E9E5B"/>
          </a:solidFill>
          <a:ln/>
        </p:spPr>
      </p:sp>
      <p:sp>
        <p:nvSpPr>
          <p:cNvPr id="59" name="Text 57"/>
          <p:cNvSpPr/>
          <p:nvPr/>
        </p:nvSpPr>
        <p:spPr>
          <a:xfrm>
            <a:off x="8595360" y="5330952"/>
            <a:ext cx="1417320" cy="3200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Thấp</a:t>
            </a:r>
            <a:endParaRPr lang="en-US" sz="1050" dirty="0"/>
          </a:p>
        </p:txBody>
      </p:sp>
      <p:sp>
        <p:nvSpPr>
          <p:cNvPr id="60" name="Text 58"/>
          <p:cNvSpPr/>
          <p:nvPr/>
        </p:nvSpPr>
        <p:spPr>
          <a:xfrm>
            <a:off x="6629400" y="5696712"/>
            <a:ext cx="3383280" cy="274320"/>
          </a:xfrm>
          <a:prstGeom prst="rect">
            <a:avLst/>
          </a:prstGeom>
          <a:noFill/>
          <a:ln/>
        </p:spPr>
        <p:txBody>
          <a:bodyPr wrap="square" rtlCol="0" anchor="ctr"/>
          <a:lstStyle/>
          <a:p>
            <a:pPr algn="ctr" indent="0" marL="0">
              <a:buNone/>
            </a:pPr>
            <a:r>
              <a:rPr lang="en-US" sz="850" i="1" dirty="0">
                <a:solidFill>
                  <a:srgbClr val="5B6270"/>
                </a:solidFill>
                <a:latin typeface="Calibri" pitchFamily="34" charset="0"/>
                <a:ea typeface="Calibri" pitchFamily="34" charset="-122"/>
                <a:cs typeface="Calibri" pitchFamily="34" charset="-120"/>
              </a:rPr>
              <a:t>Rủi ro còn lại sau xử lý</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E2761"/>
                </a:solidFill>
                <a:latin typeface="Calibri" pitchFamily="34" charset="0"/>
                <a:ea typeface="Calibri" pitchFamily="34" charset="-122"/>
                <a:cs typeface="Calibri" pitchFamily="34" charset="-120"/>
              </a:rPr>
              <a:t>DUY TRÌ HIỆU QUẢ XỬ LÝ RỦI RO</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indent="0" marL="0">
              <a:buNone/>
            </a:pPr>
            <a:r>
              <a:rPr lang="en-US" sz="2800" b="1" dirty="0">
                <a:solidFill>
                  <a:srgbClr val="24272E"/>
                </a:solidFill>
                <a:latin typeface="Cambria" pitchFamily="34" charset="0"/>
                <a:ea typeface="Cambria" pitchFamily="34" charset="-122"/>
                <a:cs typeface="Cambria" pitchFamily="34" charset="-120"/>
              </a:rPr>
              <a:t>Checklist kiểm tra bảo mật định kỳ</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indent="0" marL="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1536192"/>
            <a:ext cx="3611880" cy="2148840"/>
          </a:xfrm>
          <a:prstGeom prst="roundRect">
            <a:avLst>
              <a:gd name="adj" fmla="val 2979"/>
            </a:avLst>
          </a:prstGeom>
          <a:solidFill>
            <a:srgbClr val="F4F6FB"/>
          </a:solidFill>
          <a:ln/>
        </p:spPr>
      </p:sp>
      <p:sp>
        <p:nvSpPr>
          <p:cNvPr id="7" name="Text 5"/>
          <p:cNvSpPr/>
          <p:nvPr/>
        </p:nvSpPr>
        <p:spPr>
          <a:xfrm>
            <a:off x="731520" y="1664208"/>
            <a:ext cx="3246120" cy="320040"/>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Thiết bị IoT</a:t>
            </a:r>
            <a:endParaRPr lang="en-US" sz="1350" dirty="0"/>
          </a:p>
        </p:txBody>
      </p:sp>
      <p:sp>
        <p:nvSpPr>
          <p:cNvPr id="8" name="Shape 6"/>
          <p:cNvSpPr/>
          <p:nvPr/>
        </p:nvSpPr>
        <p:spPr>
          <a:xfrm>
            <a:off x="731520" y="2011680"/>
            <a:ext cx="1645920" cy="274320"/>
          </a:xfrm>
          <a:prstGeom prst="roundRect">
            <a:avLst>
              <a:gd name="adj" fmla="val 20000"/>
            </a:avLst>
          </a:prstGeom>
          <a:solidFill>
            <a:srgbClr val="CADCFC"/>
          </a:solidFill>
          <a:ln/>
        </p:spPr>
      </p:sp>
      <p:sp>
        <p:nvSpPr>
          <p:cNvPr id="9" name="Text 7"/>
          <p:cNvSpPr/>
          <p:nvPr/>
        </p:nvSpPr>
        <p:spPr>
          <a:xfrm>
            <a:off x="731520" y="2011680"/>
            <a:ext cx="1645920" cy="274320"/>
          </a:xfrm>
          <a:prstGeom prst="rect">
            <a:avLst/>
          </a:prstGeom>
          <a:noFill/>
          <a:ln/>
        </p:spPr>
        <p:txBody>
          <a:bodyPr wrap="square"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Hằng tháng</a:t>
            </a:r>
            <a:endParaRPr lang="en-US" sz="1050" dirty="0"/>
          </a:p>
        </p:txBody>
      </p:sp>
      <p:sp>
        <p:nvSpPr>
          <p:cNvPr id="10" name="Text 8"/>
          <p:cNvSpPr/>
          <p:nvPr/>
        </p:nvSpPr>
        <p:spPr>
          <a:xfrm>
            <a:off x="731520" y="2432304"/>
            <a:ext cx="3246120" cy="502920"/>
          </a:xfrm>
          <a:prstGeom prst="rect">
            <a:avLst/>
          </a:prstGeom>
          <a:noFill/>
          <a:ln/>
        </p:spPr>
        <p:txBody>
          <a:bodyPr wrap="square" rtlCol="0" anchor="t"/>
          <a:lstStyle/>
          <a:p>
            <a:pPr indent="0" marL="0">
              <a:lnSpc>
                <a:spcPct val="100000"/>
              </a:lnSpc>
              <a:buNone/>
            </a:pPr>
            <a:r>
              <a:rPr lang="en-US" sz="1000" dirty="0">
                <a:solidFill>
                  <a:srgbClr val="24272E"/>
                </a:solidFill>
                <a:latin typeface="Calibri" pitchFamily="34" charset="0"/>
                <a:ea typeface="Calibri" pitchFamily="34" charset="-122"/>
                <a:cs typeface="Calibri" pitchFamily="34" charset="-120"/>
              </a:rPr>
              <a:t>— Kiểm tra thiết bị còn dùng mật khẩu mặc định</a:t>
            </a:r>
            <a:endParaRPr lang="en-US" sz="1000" dirty="0"/>
          </a:p>
        </p:txBody>
      </p:sp>
      <p:sp>
        <p:nvSpPr>
          <p:cNvPr id="11" name="Text 9"/>
          <p:cNvSpPr/>
          <p:nvPr/>
        </p:nvSpPr>
        <p:spPr>
          <a:xfrm>
            <a:off x="731520" y="2962656"/>
            <a:ext cx="3246120" cy="502920"/>
          </a:xfrm>
          <a:prstGeom prst="rect">
            <a:avLst/>
          </a:prstGeom>
          <a:noFill/>
          <a:ln/>
        </p:spPr>
        <p:txBody>
          <a:bodyPr wrap="square" rtlCol="0" anchor="t"/>
          <a:lstStyle/>
          <a:p>
            <a:pPr indent="0" marL="0">
              <a:lnSpc>
                <a:spcPct val="100000"/>
              </a:lnSpc>
              <a:buNone/>
            </a:pPr>
            <a:r>
              <a:rPr lang="en-US" sz="1000" dirty="0">
                <a:solidFill>
                  <a:srgbClr val="24272E"/>
                </a:solidFill>
                <a:latin typeface="Calibri" pitchFamily="34" charset="0"/>
                <a:ea typeface="Calibri" pitchFamily="34" charset="-122"/>
                <a:cs typeface="Calibri" pitchFamily="34" charset="-120"/>
              </a:rPr>
              <a:t>— Kiểm tra phiên bản firmware, cập nhật bản mới nhất</a:t>
            </a:r>
            <a:endParaRPr lang="en-US" sz="1000" dirty="0"/>
          </a:p>
        </p:txBody>
      </p:sp>
      <p:sp>
        <p:nvSpPr>
          <p:cNvPr id="12" name="Shape 10"/>
          <p:cNvSpPr/>
          <p:nvPr/>
        </p:nvSpPr>
        <p:spPr>
          <a:xfrm>
            <a:off x="4343400" y="1536192"/>
            <a:ext cx="3611880" cy="2148840"/>
          </a:xfrm>
          <a:prstGeom prst="roundRect">
            <a:avLst>
              <a:gd name="adj" fmla="val 2979"/>
            </a:avLst>
          </a:prstGeom>
          <a:solidFill>
            <a:srgbClr val="F4F6FB"/>
          </a:solidFill>
          <a:ln/>
        </p:spPr>
      </p:sp>
      <p:sp>
        <p:nvSpPr>
          <p:cNvPr id="13" name="Text 11"/>
          <p:cNvSpPr/>
          <p:nvPr/>
        </p:nvSpPr>
        <p:spPr>
          <a:xfrm>
            <a:off x="4526280" y="1664208"/>
            <a:ext cx="3246120" cy="320040"/>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Gateway</a:t>
            </a:r>
            <a:endParaRPr lang="en-US" sz="1350" dirty="0"/>
          </a:p>
        </p:txBody>
      </p:sp>
      <p:sp>
        <p:nvSpPr>
          <p:cNvPr id="14" name="Shape 12"/>
          <p:cNvSpPr/>
          <p:nvPr/>
        </p:nvSpPr>
        <p:spPr>
          <a:xfrm>
            <a:off x="4526280" y="2011680"/>
            <a:ext cx="1645920" cy="274320"/>
          </a:xfrm>
          <a:prstGeom prst="roundRect">
            <a:avLst>
              <a:gd name="adj" fmla="val 20000"/>
            </a:avLst>
          </a:prstGeom>
          <a:solidFill>
            <a:srgbClr val="CADCFC"/>
          </a:solidFill>
          <a:ln/>
        </p:spPr>
      </p:sp>
      <p:sp>
        <p:nvSpPr>
          <p:cNvPr id="15" name="Text 13"/>
          <p:cNvSpPr/>
          <p:nvPr/>
        </p:nvSpPr>
        <p:spPr>
          <a:xfrm>
            <a:off x="4526280" y="2011680"/>
            <a:ext cx="1645920" cy="274320"/>
          </a:xfrm>
          <a:prstGeom prst="rect">
            <a:avLst/>
          </a:prstGeom>
          <a:noFill/>
          <a:ln/>
        </p:spPr>
        <p:txBody>
          <a:bodyPr wrap="square"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Hằng tháng / tuần</a:t>
            </a:r>
            <a:endParaRPr lang="en-US" sz="1050" dirty="0"/>
          </a:p>
        </p:txBody>
      </p:sp>
      <p:sp>
        <p:nvSpPr>
          <p:cNvPr id="16" name="Text 14"/>
          <p:cNvSpPr/>
          <p:nvPr/>
        </p:nvSpPr>
        <p:spPr>
          <a:xfrm>
            <a:off x="4526280" y="2432304"/>
            <a:ext cx="3246120" cy="502920"/>
          </a:xfrm>
          <a:prstGeom prst="rect">
            <a:avLst/>
          </a:prstGeom>
          <a:noFill/>
          <a:ln/>
        </p:spPr>
        <p:txBody>
          <a:bodyPr wrap="square" rtlCol="0" anchor="t"/>
          <a:lstStyle/>
          <a:p>
            <a:pPr indent="0" marL="0">
              <a:lnSpc>
                <a:spcPct val="100000"/>
              </a:lnSpc>
              <a:buNone/>
            </a:pPr>
            <a:r>
              <a:rPr lang="en-US" sz="1000" dirty="0">
                <a:solidFill>
                  <a:srgbClr val="24272E"/>
                </a:solidFill>
                <a:latin typeface="Calibri" pitchFamily="34" charset="0"/>
                <a:ea typeface="Calibri" pitchFamily="34" charset="-122"/>
                <a:cs typeface="Calibri" pitchFamily="34" charset="-120"/>
              </a:rPr>
              <a:t>— Kiểm tra cấu hình xác thực, phân quyền trên gateway</a:t>
            </a:r>
            <a:endParaRPr lang="en-US" sz="1000" dirty="0"/>
          </a:p>
        </p:txBody>
      </p:sp>
      <p:sp>
        <p:nvSpPr>
          <p:cNvPr id="17" name="Text 15"/>
          <p:cNvSpPr/>
          <p:nvPr/>
        </p:nvSpPr>
        <p:spPr>
          <a:xfrm>
            <a:off x="4526280" y="2962656"/>
            <a:ext cx="3246120" cy="502920"/>
          </a:xfrm>
          <a:prstGeom prst="rect">
            <a:avLst/>
          </a:prstGeom>
          <a:noFill/>
          <a:ln/>
        </p:spPr>
        <p:txBody>
          <a:bodyPr wrap="square" rtlCol="0" anchor="t"/>
          <a:lstStyle/>
          <a:p>
            <a:pPr indent="0" marL="0">
              <a:lnSpc>
                <a:spcPct val="100000"/>
              </a:lnSpc>
              <a:buNone/>
            </a:pPr>
            <a:r>
              <a:rPr lang="en-US" sz="1000" dirty="0">
                <a:solidFill>
                  <a:srgbClr val="24272E"/>
                </a:solidFill>
                <a:latin typeface="Calibri" pitchFamily="34" charset="0"/>
                <a:ea typeface="Calibri" pitchFamily="34" charset="-122"/>
                <a:cs typeface="Calibri" pitchFamily="34" charset="-120"/>
              </a:rPr>
              <a:t>— Kiểm tra log truy cập, phát hiện bất thường</a:t>
            </a:r>
            <a:endParaRPr lang="en-US" sz="1000" dirty="0"/>
          </a:p>
        </p:txBody>
      </p:sp>
      <p:sp>
        <p:nvSpPr>
          <p:cNvPr id="18" name="Shape 16"/>
          <p:cNvSpPr/>
          <p:nvPr/>
        </p:nvSpPr>
        <p:spPr>
          <a:xfrm>
            <a:off x="8138160" y="1536192"/>
            <a:ext cx="3611880" cy="2148840"/>
          </a:xfrm>
          <a:prstGeom prst="roundRect">
            <a:avLst>
              <a:gd name="adj" fmla="val 2979"/>
            </a:avLst>
          </a:prstGeom>
          <a:solidFill>
            <a:srgbClr val="F4F6FB"/>
          </a:solidFill>
          <a:ln/>
        </p:spPr>
      </p:sp>
      <p:sp>
        <p:nvSpPr>
          <p:cNvPr id="19" name="Text 17"/>
          <p:cNvSpPr/>
          <p:nvPr/>
        </p:nvSpPr>
        <p:spPr>
          <a:xfrm>
            <a:off x="8321040" y="1664208"/>
            <a:ext cx="3246120" cy="320040"/>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Mạng truyền thông</a:t>
            </a:r>
            <a:endParaRPr lang="en-US" sz="1350" dirty="0"/>
          </a:p>
        </p:txBody>
      </p:sp>
      <p:sp>
        <p:nvSpPr>
          <p:cNvPr id="20" name="Shape 18"/>
          <p:cNvSpPr/>
          <p:nvPr/>
        </p:nvSpPr>
        <p:spPr>
          <a:xfrm>
            <a:off x="8321040" y="2011680"/>
            <a:ext cx="1645920" cy="274320"/>
          </a:xfrm>
          <a:prstGeom prst="roundRect">
            <a:avLst>
              <a:gd name="adj" fmla="val 20000"/>
            </a:avLst>
          </a:prstGeom>
          <a:solidFill>
            <a:srgbClr val="CADCFC"/>
          </a:solidFill>
          <a:ln/>
        </p:spPr>
      </p:sp>
      <p:sp>
        <p:nvSpPr>
          <p:cNvPr id="21" name="Text 19"/>
          <p:cNvSpPr/>
          <p:nvPr/>
        </p:nvSpPr>
        <p:spPr>
          <a:xfrm>
            <a:off x="8321040" y="2011680"/>
            <a:ext cx="1645920" cy="274320"/>
          </a:xfrm>
          <a:prstGeom prst="rect">
            <a:avLst/>
          </a:prstGeom>
          <a:noFill/>
          <a:ln/>
        </p:spPr>
        <p:txBody>
          <a:bodyPr wrap="square"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Hằng quý</a:t>
            </a:r>
            <a:endParaRPr lang="en-US" sz="1050" dirty="0"/>
          </a:p>
        </p:txBody>
      </p:sp>
      <p:sp>
        <p:nvSpPr>
          <p:cNvPr id="22" name="Text 20"/>
          <p:cNvSpPr/>
          <p:nvPr/>
        </p:nvSpPr>
        <p:spPr>
          <a:xfrm>
            <a:off x="8321040" y="2432304"/>
            <a:ext cx="3246120" cy="502920"/>
          </a:xfrm>
          <a:prstGeom prst="rect">
            <a:avLst/>
          </a:prstGeom>
          <a:noFill/>
          <a:ln/>
        </p:spPr>
        <p:txBody>
          <a:bodyPr wrap="square" rtlCol="0" anchor="t"/>
          <a:lstStyle/>
          <a:p>
            <a:pPr indent="0" marL="0">
              <a:lnSpc>
                <a:spcPct val="100000"/>
              </a:lnSpc>
              <a:buNone/>
            </a:pPr>
            <a:r>
              <a:rPr lang="en-US" sz="1000" dirty="0">
                <a:solidFill>
                  <a:srgbClr val="24272E"/>
                </a:solidFill>
                <a:latin typeface="Calibri" pitchFamily="34" charset="0"/>
                <a:ea typeface="Calibri" pitchFamily="34" charset="-122"/>
                <a:cs typeface="Calibri" pitchFamily="34" charset="-120"/>
              </a:rPr>
              <a:t>— Kiểm tra dữ liệu truyền có mã hóa TLS/HTTPS</a:t>
            </a:r>
            <a:endParaRPr lang="en-US" sz="1000" dirty="0"/>
          </a:p>
        </p:txBody>
      </p:sp>
      <p:sp>
        <p:nvSpPr>
          <p:cNvPr id="23" name="Text 21"/>
          <p:cNvSpPr/>
          <p:nvPr/>
        </p:nvSpPr>
        <p:spPr>
          <a:xfrm>
            <a:off x="8321040" y="2962656"/>
            <a:ext cx="3246120" cy="502920"/>
          </a:xfrm>
          <a:prstGeom prst="rect">
            <a:avLst/>
          </a:prstGeom>
          <a:noFill/>
          <a:ln/>
        </p:spPr>
        <p:txBody>
          <a:bodyPr wrap="square" rtlCol="0" anchor="t"/>
          <a:lstStyle/>
          <a:p>
            <a:pPr indent="0" marL="0">
              <a:lnSpc>
                <a:spcPct val="100000"/>
              </a:lnSpc>
              <a:buNone/>
            </a:pPr>
            <a:r>
              <a:rPr lang="en-US" sz="1000" dirty="0">
                <a:solidFill>
                  <a:srgbClr val="24272E"/>
                </a:solidFill>
                <a:latin typeface="Calibri" pitchFamily="34" charset="0"/>
                <a:ea typeface="Calibri" pitchFamily="34" charset="-122"/>
                <a:cs typeface="Calibri" pitchFamily="34" charset="-120"/>
              </a:rPr>
              <a:t>— Kiểm tra phân đoạn mạng (VLAN)</a:t>
            </a:r>
            <a:endParaRPr lang="en-US" sz="1000" dirty="0"/>
          </a:p>
        </p:txBody>
      </p:sp>
      <p:sp>
        <p:nvSpPr>
          <p:cNvPr id="24" name="Shape 22"/>
          <p:cNvSpPr/>
          <p:nvPr/>
        </p:nvSpPr>
        <p:spPr>
          <a:xfrm>
            <a:off x="548640" y="3867912"/>
            <a:ext cx="3611880" cy="2148840"/>
          </a:xfrm>
          <a:prstGeom prst="roundRect">
            <a:avLst>
              <a:gd name="adj" fmla="val 2979"/>
            </a:avLst>
          </a:prstGeom>
          <a:solidFill>
            <a:srgbClr val="F4F6FB"/>
          </a:solidFill>
          <a:ln/>
        </p:spPr>
      </p:sp>
      <p:sp>
        <p:nvSpPr>
          <p:cNvPr id="25" name="Text 23"/>
          <p:cNvSpPr/>
          <p:nvPr/>
        </p:nvSpPr>
        <p:spPr>
          <a:xfrm>
            <a:off x="731520" y="3995928"/>
            <a:ext cx="3246120" cy="320040"/>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Máy chủ / CSDL</a:t>
            </a:r>
            <a:endParaRPr lang="en-US" sz="1350" dirty="0"/>
          </a:p>
        </p:txBody>
      </p:sp>
      <p:sp>
        <p:nvSpPr>
          <p:cNvPr id="26" name="Shape 24"/>
          <p:cNvSpPr/>
          <p:nvPr/>
        </p:nvSpPr>
        <p:spPr>
          <a:xfrm>
            <a:off x="731520" y="4343400"/>
            <a:ext cx="1645920" cy="274320"/>
          </a:xfrm>
          <a:prstGeom prst="roundRect">
            <a:avLst>
              <a:gd name="adj" fmla="val 20000"/>
            </a:avLst>
          </a:prstGeom>
          <a:solidFill>
            <a:srgbClr val="CADCFC"/>
          </a:solidFill>
          <a:ln/>
        </p:spPr>
      </p:sp>
      <p:sp>
        <p:nvSpPr>
          <p:cNvPr id="27" name="Text 25"/>
          <p:cNvSpPr/>
          <p:nvPr/>
        </p:nvSpPr>
        <p:spPr>
          <a:xfrm>
            <a:off x="731520" y="4343400"/>
            <a:ext cx="1645920" cy="274320"/>
          </a:xfrm>
          <a:prstGeom prst="rect">
            <a:avLst/>
          </a:prstGeom>
          <a:noFill/>
          <a:ln/>
        </p:spPr>
        <p:txBody>
          <a:bodyPr wrap="square"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Hằng tuần / tháng</a:t>
            </a:r>
            <a:endParaRPr lang="en-US" sz="1050" dirty="0"/>
          </a:p>
        </p:txBody>
      </p:sp>
      <p:sp>
        <p:nvSpPr>
          <p:cNvPr id="28" name="Text 26"/>
          <p:cNvSpPr/>
          <p:nvPr/>
        </p:nvSpPr>
        <p:spPr>
          <a:xfrm>
            <a:off x="731520" y="4764024"/>
            <a:ext cx="3246120" cy="502920"/>
          </a:xfrm>
          <a:prstGeom prst="rect">
            <a:avLst/>
          </a:prstGeom>
          <a:noFill/>
          <a:ln/>
        </p:spPr>
        <p:txBody>
          <a:bodyPr wrap="square" rtlCol="0" anchor="t"/>
          <a:lstStyle/>
          <a:p>
            <a:pPr indent="0" marL="0">
              <a:lnSpc>
                <a:spcPct val="100000"/>
              </a:lnSpc>
              <a:buNone/>
            </a:pPr>
            <a:r>
              <a:rPr lang="en-US" sz="1000" dirty="0">
                <a:solidFill>
                  <a:srgbClr val="24272E"/>
                </a:solidFill>
                <a:latin typeface="Calibri" pitchFamily="34" charset="0"/>
                <a:ea typeface="Calibri" pitchFamily="34" charset="-122"/>
                <a:cs typeface="Calibri" pitchFamily="34" charset="-120"/>
              </a:rPr>
              <a:t>— Kiểm tra bản sao lưu dữ liệu gần nhất</a:t>
            </a:r>
            <a:endParaRPr lang="en-US" sz="1000" dirty="0"/>
          </a:p>
        </p:txBody>
      </p:sp>
      <p:sp>
        <p:nvSpPr>
          <p:cNvPr id="29" name="Text 27"/>
          <p:cNvSpPr/>
          <p:nvPr/>
        </p:nvSpPr>
        <p:spPr>
          <a:xfrm>
            <a:off x="731520" y="5294376"/>
            <a:ext cx="3246120" cy="502920"/>
          </a:xfrm>
          <a:prstGeom prst="rect">
            <a:avLst/>
          </a:prstGeom>
          <a:noFill/>
          <a:ln/>
        </p:spPr>
        <p:txBody>
          <a:bodyPr wrap="square" rtlCol="0" anchor="t"/>
          <a:lstStyle/>
          <a:p>
            <a:pPr indent="0" marL="0">
              <a:lnSpc>
                <a:spcPct val="100000"/>
              </a:lnSpc>
              <a:buNone/>
            </a:pPr>
            <a:r>
              <a:rPr lang="en-US" sz="1000" dirty="0">
                <a:solidFill>
                  <a:srgbClr val="24272E"/>
                </a:solidFill>
                <a:latin typeface="Calibri" pitchFamily="34" charset="0"/>
                <a:ea typeface="Calibri" pitchFamily="34" charset="-122"/>
                <a:cs typeface="Calibri" pitchFamily="34" charset="-120"/>
              </a:rPr>
              <a:t>— Vá lỗi hệ điều hành, phần mềm máy chủ</a:t>
            </a:r>
            <a:endParaRPr lang="en-US" sz="1000" dirty="0"/>
          </a:p>
        </p:txBody>
      </p:sp>
      <p:sp>
        <p:nvSpPr>
          <p:cNvPr id="30" name="Shape 28"/>
          <p:cNvSpPr/>
          <p:nvPr/>
        </p:nvSpPr>
        <p:spPr>
          <a:xfrm>
            <a:off x="4343400" y="3867912"/>
            <a:ext cx="3611880" cy="2148840"/>
          </a:xfrm>
          <a:prstGeom prst="roundRect">
            <a:avLst>
              <a:gd name="adj" fmla="val 2979"/>
            </a:avLst>
          </a:prstGeom>
          <a:solidFill>
            <a:srgbClr val="F4F6FB"/>
          </a:solidFill>
          <a:ln/>
        </p:spPr>
      </p:sp>
      <p:sp>
        <p:nvSpPr>
          <p:cNvPr id="31" name="Text 29"/>
          <p:cNvSpPr/>
          <p:nvPr/>
        </p:nvSpPr>
        <p:spPr>
          <a:xfrm>
            <a:off x="4526280" y="3995928"/>
            <a:ext cx="3246120" cy="320040"/>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Tài khoản &amp; truy cập</a:t>
            </a:r>
            <a:endParaRPr lang="en-US" sz="1350" dirty="0"/>
          </a:p>
        </p:txBody>
      </p:sp>
      <p:sp>
        <p:nvSpPr>
          <p:cNvPr id="32" name="Shape 30"/>
          <p:cNvSpPr/>
          <p:nvPr/>
        </p:nvSpPr>
        <p:spPr>
          <a:xfrm>
            <a:off x="4526280" y="4343400"/>
            <a:ext cx="1645920" cy="274320"/>
          </a:xfrm>
          <a:prstGeom prst="roundRect">
            <a:avLst>
              <a:gd name="adj" fmla="val 20000"/>
            </a:avLst>
          </a:prstGeom>
          <a:solidFill>
            <a:srgbClr val="CADCFC"/>
          </a:solidFill>
          <a:ln/>
        </p:spPr>
      </p:sp>
      <p:sp>
        <p:nvSpPr>
          <p:cNvPr id="33" name="Text 31"/>
          <p:cNvSpPr/>
          <p:nvPr/>
        </p:nvSpPr>
        <p:spPr>
          <a:xfrm>
            <a:off x="4526280" y="4343400"/>
            <a:ext cx="1645920" cy="274320"/>
          </a:xfrm>
          <a:prstGeom prst="rect">
            <a:avLst/>
          </a:prstGeom>
          <a:noFill/>
          <a:ln/>
        </p:spPr>
        <p:txBody>
          <a:bodyPr wrap="square"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Hằng quý</a:t>
            </a:r>
            <a:endParaRPr lang="en-US" sz="1050" dirty="0"/>
          </a:p>
        </p:txBody>
      </p:sp>
      <p:sp>
        <p:nvSpPr>
          <p:cNvPr id="34" name="Text 32"/>
          <p:cNvSpPr/>
          <p:nvPr/>
        </p:nvSpPr>
        <p:spPr>
          <a:xfrm>
            <a:off x="4526280" y="4764024"/>
            <a:ext cx="3246120" cy="502920"/>
          </a:xfrm>
          <a:prstGeom prst="rect">
            <a:avLst/>
          </a:prstGeom>
          <a:noFill/>
          <a:ln/>
        </p:spPr>
        <p:txBody>
          <a:bodyPr wrap="square" rtlCol="0" anchor="t"/>
          <a:lstStyle/>
          <a:p>
            <a:pPr indent="0" marL="0">
              <a:lnSpc>
                <a:spcPct val="100000"/>
              </a:lnSpc>
              <a:buNone/>
            </a:pPr>
            <a:r>
              <a:rPr lang="en-US" sz="1000" dirty="0">
                <a:solidFill>
                  <a:srgbClr val="24272E"/>
                </a:solidFill>
                <a:latin typeface="Calibri" pitchFamily="34" charset="0"/>
                <a:ea typeface="Calibri" pitchFamily="34" charset="-122"/>
                <a:cs typeface="Calibri" pitchFamily="34" charset="-120"/>
              </a:rPr>
              <a:t>— Kiểm tra chính sách mật khẩu và MFA</a:t>
            </a:r>
            <a:endParaRPr lang="en-US" sz="1000" dirty="0"/>
          </a:p>
        </p:txBody>
      </p:sp>
      <p:sp>
        <p:nvSpPr>
          <p:cNvPr id="35" name="Text 33"/>
          <p:cNvSpPr/>
          <p:nvPr/>
        </p:nvSpPr>
        <p:spPr>
          <a:xfrm>
            <a:off x="4526280" y="5294376"/>
            <a:ext cx="3246120" cy="502920"/>
          </a:xfrm>
          <a:prstGeom prst="rect">
            <a:avLst/>
          </a:prstGeom>
          <a:noFill/>
          <a:ln/>
        </p:spPr>
        <p:txBody>
          <a:bodyPr wrap="square" rtlCol="0" anchor="t"/>
          <a:lstStyle/>
          <a:p>
            <a:pPr indent="0" marL="0">
              <a:lnSpc>
                <a:spcPct val="100000"/>
              </a:lnSpc>
              <a:buNone/>
            </a:pPr>
            <a:r>
              <a:rPr lang="en-US" sz="1000" dirty="0">
                <a:solidFill>
                  <a:srgbClr val="24272E"/>
                </a:solidFill>
                <a:latin typeface="Calibri" pitchFamily="34" charset="0"/>
                <a:ea typeface="Calibri" pitchFamily="34" charset="-122"/>
                <a:cs typeface="Calibri" pitchFamily="34" charset="-120"/>
              </a:rPr>
              <a:t>— Giới hạn truy cập từ xa (VPN, IP allowlist)</a:t>
            </a:r>
            <a:endParaRPr lang="en-US" sz="1000" dirty="0"/>
          </a:p>
        </p:txBody>
      </p:sp>
      <p:sp>
        <p:nvSpPr>
          <p:cNvPr id="36" name="Shape 34"/>
          <p:cNvSpPr/>
          <p:nvPr/>
        </p:nvSpPr>
        <p:spPr>
          <a:xfrm>
            <a:off x="8138160" y="3867912"/>
            <a:ext cx="3611880" cy="2148840"/>
          </a:xfrm>
          <a:prstGeom prst="roundRect">
            <a:avLst>
              <a:gd name="adj" fmla="val 2979"/>
            </a:avLst>
          </a:prstGeom>
          <a:solidFill>
            <a:srgbClr val="F4F6FB"/>
          </a:solidFill>
          <a:ln/>
        </p:spPr>
      </p:sp>
      <p:sp>
        <p:nvSpPr>
          <p:cNvPr id="37" name="Text 35"/>
          <p:cNvSpPr/>
          <p:nvPr/>
        </p:nvSpPr>
        <p:spPr>
          <a:xfrm>
            <a:off x="8321040" y="3995928"/>
            <a:ext cx="3246120" cy="320040"/>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Con người</a:t>
            </a:r>
            <a:endParaRPr lang="en-US" sz="1350" dirty="0"/>
          </a:p>
        </p:txBody>
      </p:sp>
      <p:sp>
        <p:nvSpPr>
          <p:cNvPr id="38" name="Shape 36"/>
          <p:cNvSpPr/>
          <p:nvPr/>
        </p:nvSpPr>
        <p:spPr>
          <a:xfrm>
            <a:off x="8321040" y="4343400"/>
            <a:ext cx="1645920" cy="274320"/>
          </a:xfrm>
          <a:prstGeom prst="roundRect">
            <a:avLst>
              <a:gd name="adj" fmla="val 20000"/>
            </a:avLst>
          </a:prstGeom>
          <a:solidFill>
            <a:srgbClr val="CADCFC"/>
          </a:solidFill>
          <a:ln/>
        </p:spPr>
      </p:sp>
      <p:sp>
        <p:nvSpPr>
          <p:cNvPr id="39" name="Text 37"/>
          <p:cNvSpPr/>
          <p:nvPr/>
        </p:nvSpPr>
        <p:spPr>
          <a:xfrm>
            <a:off x="8321040" y="4343400"/>
            <a:ext cx="1645920" cy="274320"/>
          </a:xfrm>
          <a:prstGeom prst="rect">
            <a:avLst/>
          </a:prstGeom>
          <a:noFill/>
          <a:ln/>
        </p:spPr>
        <p:txBody>
          <a:bodyPr wrap="square"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6 tháng / lần</a:t>
            </a:r>
            <a:endParaRPr lang="en-US" sz="1050" dirty="0"/>
          </a:p>
        </p:txBody>
      </p:sp>
      <p:sp>
        <p:nvSpPr>
          <p:cNvPr id="40" name="Text 38"/>
          <p:cNvSpPr/>
          <p:nvPr/>
        </p:nvSpPr>
        <p:spPr>
          <a:xfrm>
            <a:off x="8321040" y="4764024"/>
            <a:ext cx="3246120" cy="502920"/>
          </a:xfrm>
          <a:prstGeom prst="rect">
            <a:avLst/>
          </a:prstGeom>
          <a:noFill/>
          <a:ln/>
        </p:spPr>
        <p:txBody>
          <a:bodyPr wrap="square" rtlCol="0" anchor="t"/>
          <a:lstStyle/>
          <a:p>
            <a:pPr indent="0" marL="0">
              <a:lnSpc>
                <a:spcPct val="100000"/>
              </a:lnSpc>
              <a:buNone/>
            </a:pPr>
            <a:r>
              <a:rPr lang="en-US" sz="1000" dirty="0">
                <a:solidFill>
                  <a:srgbClr val="24272E"/>
                </a:solidFill>
                <a:latin typeface="Calibri" pitchFamily="34" charset="0"/>
                <a:ea typeface="Calibri" pitchFamily="34" charset="-122"/>
                <a:cs typeface="Calibri" pitchFamily="34" charset="-120"/>
              </a:rPr>
              <a:t>— Đào tạo nhận thức an toàn thông tin cho người vận hành</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E2761"/>
                </a:solidFill>
                <a:latin typeface="Calibri" pitchFamily="34" charset="0"/>
                <a:ea typeface="Calibri" pitchFamily="34" charset="-122"/>
                <a:cs typeface="Calibri" pitchFamily="34" charset="-120"/>
              </a:rPr>
              <a:t>ĐÁNH GIÁ BẢO MẬT</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indent="0" marL="0">
              <a:buNone/>
            </a:pPr>
            <a:r>
              <a:rPr lang="en-US" sz="2800" b="1" dirty="0">
                <a:solidFill>
                  <a:srgbClr val="24272E"/>
                </a:solidFill>
                <a:latin typeface="Cambria" pitchFamily="34" charset="0"/>
                <a:ea typeface="Cambria" pitchFamily="34" charset="-122"/>
                <a:cs typeface="Cambria" pitchFamily="34" charset="-120"/>
              </a:rPr>
              <a:t>Đánh giá, hạn chế và hướng phát triển</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indent="0" marL="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508760"/>
            <a:ext cx="5394960" cy="4709160"/>
          </a:xfrm>
          <a:prstGeom prst="roundRect">
            <a:avLst>
              <a:gd name="adj" fmla="val 1553"/>
            </a:avLst>
          </a:prstGeom>
          <a:solidFill>
            <a:srgbClr val="F4F6FB"/>
          </a:solidFill>
          <a:ln/>
        </p:spPr>
      </p:sp>
      <p:sp>
        <p:nvSpPr>
          <p:cNvPr id="7" name="Text 5"/>
          <p:cNvSpPr/>
          <p:nvPr/>
        </p:nvSpPr>
        <p:spPr>
          <a:xfrm>
            <a:off x="822960" y="1737360"/>
            <a:ext cx="4846320" cy="3200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TÀI SẢN &amp; LỖ HỔNG CHÍNH</a:t>
            </a:r>
            <a:endParaRPr lang="en-US" sz="1450" dirty="0"/>
          </a:p>
        </p:txBody>
      </p:sp>
      <p:sp>
        <p:nvSpPr>
          <p:cNvPr id="8" name="Text 6"/>
          <p:cNvSpPr/>
          <p:nvPr/>
        </p:nvSpPr>
        <p:spPr>
          <a:xfrm>
            <a:off x="822960" y="2121408"/>
            <a:ext cx="4892040" cy="3931920"/>
          </a:xfrm>
          <a:prstGeom prst="rect">
            <a:avLst/>
          </a:prstGeom>
          <a:noFill/>
          <a:ln/>
        </p:spPr>
        <p:txBody>
          <a:bodyPr wrap="square" rtlCol="0" anchor="t"/>
          <a:lstStyle/>
          <a:p>
            <a:pPr indent="0" marL="0">
              <a:lnSpc>
                <a:spcPct val="120000"/>
              </a:lnSpc>
              <a:buNone/>
            </a:pPr>
            <a:r>
              <a:rPr lang="en-US" sz="1200" b="1" dirty="0">
                <a:solidFill>
                  <a:srgbClr val="24272E"/>
                </a:solidFill>
                <a:latin typeface="Calibri" pitchFamily="34" charset="0"/>
                <a:ea typeface="Calibri" pitchFamily="34" charset="-122"/>
                <a:cs typeface="Calibri" pitchFamily="34" charset="-120"/>
              </a:rPr>
              <a:t>Camera IP &amp; tài khoản quản trị</a:t>
            </a:r>
            <a:pPr indent="0" marL="0">
              <a:lnSpc>
                <a:spcPct val="120000"/>
              </a:lnSpc>
              <a:buNone/>
            </a:pPr>
            <a:r>
              <a:rPr lang="en-US" sz="1200" dirty="0">
                <a:solidFill>
                  <a:srgbClr val="24272E"/>
                </a:solidFill>
                <a:latin typeface="Calibri" pitchFamily="34" charset="0"/>
                <a:ea typeface="Calibri" pitchFamily="34" charset="-122"/>
                <a:cs typeface="Calibri" pitchFamily="34" charset="-120"/>
              </a:rPr>
              <a:t> là 2 tài sản nguy cơ cao nhất — thường bị bỏ quên mật khẩu mặc định hoặc thiếu xác thực đa yếu tố (lỗi phổ biến nhất theo OWASP IoT Top 10).
</a:t>
            </a:r>
            <a:pPr indent="0" marL="0">
              <a:lnSpc>
                <a:spcPct val="120000"/>
              </a:lnSpc>
              <a:buNone/>
            </a:pPr>
            <a:r>
              <a:rPr lang="en-US" sz="1200" b="1" dirty="0">
                <a:solidFill>
                  <a:srgbClr val="24272E"/>
                </a:solidFill>
                <a:latin typeface="Calibri" pitchFamily="34" charset="0"/>
                <a:ea typeface="Calibri" pitchFamily="34" charset="-122"/>
                <a:cs typeface="Calibri" pitchFamily="34" charset="-120"/>
              </a:rPr>
              <a:t>Router mở cổng ra Internet</a:t>
            </a:r>
            <a:pPr indent="0" marL="0">
              <a:lnSpc>
                <a:spcPct val="120000"/>
              </a:lnSpc>
              <a:buNone/>
            </a:pPr>
            <a:r>
              <a:rPr lang="en-US" sz="1200" dirty="0">
                <a:solidFill>
                  <a:srgbClr val="24272E"/>
                </a:solidFill>
                <a:latin typeface="Calibri" pitchFamily="34" charset="0"/>
                <a:ea typeface="Calibri" pitchFamily="34" charset="-122"/>
                <a:cs typeface="Calibri" pitchFamily="34" charset="-120"/>
              </a:rPr>
              <a:t> để tiện truy cập từ xa là nguyên nhân gốc khiến thiết bị dễ bị quét/tấn công bởi botnet.
</a:t>
            </a:r>
            <a:pPr indent="0" marL="0">
              <a:lnSpc>
                <a:spcPct val="120000"/>
              </a:lnSpc>
              <a:buNone/>
            </a:pPr>
            <a:r>
              <a:rPr lang="en-US" sz="1200" dirty="0">
                <a:solidFill>
                  <a:srgbClr val="24272E"/>
                </a:solidFill>
                <a:latin typeface="Calibri" pitchFamily="34" charset="0"/>
                <a:ea typeface="Calibri" pitchFamily="34" charset="-122"/>
                <a:cs typeface="Calibri" pitchFamily="34" charset="-120"/>
              </a:rPr>
              <a:t>Phần lớn lỗ hổng </a:t>
            </a:r>
            <a:pPr indent="0" marL="0">
              <a:lnSpc>
                <a:spcPct val="120000"/>
              </a:lnSpc>
              <a:buNone/>
            </a:pPr>
            <a:r>
              <a:rPr lang="en-US" sz="1200" b="1" dirty="0">
                <a:solidFill>
                  <a:srgbClr val="24272E"/>
                </a:solidFill>
                <a:latin typeface="Calibri" pitchFamily="34" charset="0"/>
                <a:ea typeface="Calibri" pitchFamily="34" charset="-122"/>
                <a:cs typeface="Calibri" pitchFamily="34" charset="-120"/>
              </a:rPr>
              <a:t>không đến từ công nghệ phức tạp mà từ thói quen cấu hình</a:t>
            </a:r>
            <a:pPr indent="0" marL="0">
              <a:lnSpc>
                <a:spcPct val="120000"/>
              </a:lnSpc>
              <a:buNone/>
            </a:pPr>
            <a:r>
              <a:rPr lang="en-US" sz="1200" dirty="0">
                <a:solidFill>
                  <a:srgbClr val="24272E"/>
                </a:solidFill>
                <a:latin typeface="Calibri" pitchFamily="34" charset="0"/>
                <a:ea typeface="Calibri" pitchFamily="34" charset="-122"/>
                <a:cs typeface="Calibri" pitchFamily="34" charset="-120"/>
              </a:rPr>
              <a:t>: không đổi mật khẩu, không tách mạng IoT, không cập nhật firmware.</a:t>
            </a:r>
            <a:endParaRPr lang="en-US" sz="1200" dirty="0"/>
          </a:p>
        </p:txBody>
      </p:sp>
      <p:sp>
        <p:nvSpPr>
          <p:cNvPr id="9" name="Shape 7"/>
          <p:cNvSpPr/>
          <p:nvPr/>
        </p:nvSpPr>
        <p:spPr>
          <a:xfrm>
            <a:off x="6245352" y="1508760"/>
            <a:ext cx="5394960" cy="2240280"/>
          </a:xfrm>
          <a:prstGeom prst="roundRect">
            <a:avLst>
              <a:gd name="adj" fmla="val 3265"/>
            </a:avLst>
          </a:prstGeom>
          <a:solidFill>
            <a:srgbClr val="D9A521"/>
          </a:solidFill>
          <a:ln/>
        </p:spPr>
      </p:sp>
      <p:sp>
        <p:nvSpPr>
          <p:cNvPr id="10" name="Text 8"/>
          <p:cNvSpPr/>
          <p:nvPr/>
        </p:nvSpPr>
        <p:spPr>
          <a:xfrm>
            <a:off x="6519672" y="1691640"/>
            <a:ext cx="4846320" cy="320040"/>
          </a:xfrm>
          <a:prstGeom prst="rect">
            <a:avLst/>
          </a:prstGeom>
          <a:noFill/>
          <a:ln/>
        </p:spPr>
        <p:txBody>
          <a:bodyPr wrap="square"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HẠN CHẾ</a:t>
            </a:r>
            <a:endParaRPr lang="en-US" sz="1450" dirty="0"/>
          </a:p>
        </p:txBody>
      </p:sp>
      <p:sp>
        <p:nvSpPr>
          <p:cNvPr id="11" name="Text 9"/>
          <p:cNvSpPr/>
          <p:nvPr/>
        </p:nvSpPr>
        <p:spPr>
          <a:xfrm>
            <a:off x="6519672" y="2057400"/>
            <a:ext cx="4846320" cy="1600200"/>
          </a:xfrm>
          <a:prstGeom prst="rect">
            <a:avLst/>
          </a:prstGeom>
          <a:noFill/>
          <a:ln/>
        </p:spPr>
        <p:txBody>
          <a:bodyPr wrap="square"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Thực hiện trên mô hình giả định, chưa triển khai/đo lường trên thiết bị thật → điểm Khả năng/Ảnh hưởng mang tính ước lượng chủ quan, chưa kiểm chứng bằng dữ liệu sự cố thực tế. Checklist cần điều chỉnh linh hoạt theo quy mô, ngân sách thực tế.</a:t>
            </a:r>
            <a:endParaRPr lang="en-US" sz="1150" dirty="0"/>
          </a:p>
        </p:txBody>
      </p:sp>
      <p:sp>
        <p:nvSpPr>
          <p:cNvPr id="12" name="Shape 10"/>
          <p:cNvSpPr/>
          <p:nvPr/>
        </p:nvSpPr>
        <p:spPr>
          <a:xfrm>
            <a:off x="6245352" y="3931920"/>
            <a:ext cx="5394960" cy="2286000"/>
          </a:xfrm>
          <a:prstGeom prst="roundRect">
            <a:avLst>
              <a:gd name="adj" fmla="val 3200"/>
            </a:avLst>
          </a:prstGeom>
          <a:solidFill>
            <a:srgbClr val="1E2761"/>
          </a:solidFill>
          <a:ln/>
        </p:spPr>
      </p:sp>
      <p:sp>
        <p:nvSpPr>
          <p:cNvPr id="13" name="Text 11"/>
          <p:cNvSpPr/>
          <p:nvPr/>
        </p:nvSpPr>
        <p:spPr>
          <a:xfrm>
            <a:off x="6519672" y="4114800"/>
            <a:ext cx="4846320" cy="320040"/>
          </a:xfrm>
          <a:prstGeom prst="rect">
            <a:avLst/>
          </a:prstGeom>
          <a:noFill/>
          <a:ln/>
        </p:spPr>
        <p:txBody>
          <a:bodyPr wrap="square" rtlCol="0" anchor="ctr"/>
          <a:lstStyle/>
          <a:p>
            <a:pPr indent="0" marL="0">
              <a:buNone/>
            </a:pPr>
            <a:r>
              <a:rPr lang="en-US" sz="1450" b="1" dirty="0">
                <a:solidFill>
                  <a:srgbClr val="CADCFC"/>
                </a:solidFill>
                <a:latin typeface="Cambria" pitchFamily="34" charset="0"/>
                <a:ea typeface="Cambria" pitchFamily="34" charset="-122"/>
                <a:cs typeface="Cambria" pitchFamily="34" charset="-120"/>
              </a:rPr>
              <a:t>HƯỚNG PHÁT TRIỂN</a:t>
            </a:r>
            <a:endParaRPr lang="en-US" sz="1450" dirty="0"/>
          </a:p>
        </p:txBody>
      </p:sp>
      <p:sp>
        <p:nvSpPr>
          <p:cNvPr id="14" name="Text 12"/>
          <p:cNvSpPr/>
          <p:nvPr/>
        </p:nvSpPr>
        <p:spPr>
          <a:xfrm>
            <a:off x="6519672" y="4498848"/>
            <a:ext cx="4846320" cy="1645920"/>
          </a:xfrm>
          <a:prstGeom prst="rect">
            <a:avLst/>
          </a:prstGeom>
          <a:noFill/>
          <a:ln/>
        </p:spPr>
        <p:txBody>
          <a:bodyPr wrap="square" rtlCol="0" anchor="t"/>
          <a:lstStyle/>
          <a:p>
            <a:pPr indent="0" marL="0">
              <a:lnSpc>
                <a:spcPct val="120000"/>
              </a:lnSpc>
              <a:buNone/>
            </a:pPr>
            <a:r>
              <a:rPr lang="en-US" sz="1150" dirty="0">
                <a:solidFill>
                  <a:srgbClr val="FFFFFF"/>
                </a:solidFill>
                <a:latin typeface="Calibri" pitchFamily="34" charset="0"/>
                <a:ea typeface="Calibri" pitchFamily="34" charset="-122"/>
                <a:cs typeface="Calibri" pitchFamily="34" charset="-120"/>
              </a:rPr>
              <a:t>• Triển khai thử nghiệm quy trình trên hệ thống IoT thật để thu thập dữ liệu định lượng</a:t>
            </a:r>
            <a:endParaRPr lang="en-US" sz="1150" dirty="0"/>
          </a:p>
          <a:p>
            <a:pPr indent="0" marL="0">
              <a:lnSpc>
                <a:spcPct val="120000"/>
              </a:lnSpc>
              <a:buNone/>
            </a:pPr>
            <a:r>
              <a:rPr lang="en-US" sz="1150" dirty="0">
                <a:solidFill>
                  <a:srgbClr val="FFFFFF"/>
                </a:solidFill>
                <a:latin typeface="Calibri" pitchFamily="34" charset="0"/>
                <a:ea typeface="Calibri" pitchFamily="34" charset="-122"/>
                <a:cs typeface="Calibri" pitchFamily="34" charset="-120"/>
              </a:rPr>
              <a:t>• Tự động hóa kiểm tra checklist bằng script quét cấu hình</a:t>
            </a:r>
            <a:endParaRPr lang="en-US" sz="1150" dirty="0"/>
          </a:p>
          <a:p>
            <a:pPr indent="0" marL="0">
              <a:lnSpc>
                <a:spcPct val="120000"/>
              </a:lnSpc>
              <a:buNone/>
            </a:pPr>
            <a:r>
              <a:rPr lang="en-US" sz="1150" dirty="0">
                <a:solidFill>
                  <a:srgbClr val="FFFFFF"/>
                </a:solidFill>
                <a:latin typeface="Calibri" pitchFamily="34" charset="0"/>
                <a:ea typeface="Calibri" pitchFamily="34" charset="-122"/>
                <a:cs typeface="Calibri" pitchFamily="34" charset="-120"/>
              </a:rPr>
              <a:t>• Mở rộng risk register theo chuẩn định lượng hơn (CVSS) cho từng lỗ hổng cụ thể</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4206240"/>
            <a:ext cx="4206240" cy="4206240"/>
          </a:xfrm>
          <a:prstGeom prst="ellipse">
            <a:avLst/>
          </a:prstGeom>
          <a:solidFill>
            <a:srgbClr val="12193F"/>
          </a:solidFill>
          <a:ln/>
        </p:spPr>
      </p:sp>
      <p:sp>
        <p:nvSpPr>
          <p:cNvPr id="3" name="Text 1"/>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CADCFC"/>
                </a:solidFill>
                <a:latin typeface="Calibri" pitchFamily="34" charset="0"/>
                <a:ea typeface="Calibri" pitchFamily="34" charset="-122"/>
                <a:cs typeface="Calibri" pitchFamily="34" charset="-120"/>
              </a:rPr>
              <a:t>KẾT LUẬN</a:t>
            </a:r>
            <a:endParaRPr lang="en-US" sz="1250" dirty="0"/>
          </a:p>
        </p:txBody>
      </p:sp>
      <p:sp>
        <p:nvSpPr>
          <p:cNvPr id="4" name="Text 2"/>
          <p:cNvSpPr/>
          <p:nvPr/>
        </p:nvSpPr>
        <p:spPr>
          <a:xfrm>
            <a:off x="548640" y="1051560"/>
            <a:ext cx="10789920" cy="1188720"/>
          </a:xfrm>
          <a:prstGeom prst="rect">
            <a:avLst/>
          </a:prstGeom>
          <a:noFill/>
          <a:ln/>
        </p:spPr>
        <p:txBody>
          <a:bodyPr wrap="square" rtlCol="0" anchor="ctr"/>
          <a:lstStyle/>
          <a:p>
            <a:pPr indent="0" marL="0">
              <a:lnSpc>
                <a:spcPct val="108000"/>
              </a:lnSpc>
              <a:buNone/>
            </a:pPr>
            <a:r>
              <a:rPr lang="en-US" sz="3000" b="1" dirty="0">
                <a:solidFill>
                  <a:srgbClr val="FFFFFF"/>
                </a:solidFill>
                <a:latin typeface="Cambria" pitchFamily="34" charset="0"/>
                <a:ea typeface="Cambria" pitchFamily="34" charset="-122"/>
                <a:cs typeface="Cambria" pitchFamily="34" charset="-120"/>
              </a:rPr>
              <a:t>Một quy trình quản lý rủi ro gọn nhẹ,</a:t>
            </a:r>
            <a:endParaRPr lang="en-US" sz="3000" dirty="0"/>
          </a:p>
          <a:p>
            <a:pPr indent="0" marL="0">
              <a:lnSpc>
                <a:spcPct val="108000"/>
              </a:lnSpc>
              <a:buNone/>
            </a:pPr>
            <a:r>
              <a:rPr lang="en-US" sz="3000" b="1" dirty="0">
                <a:solidFill>
                  <a:srgbClr val="FFFFFF"/>
                </a:solidFill>
                <a:latin typeface="Cambria" pitchFamily="34" charset="0"/>
                <a:ea typeface="Cambria" pitchFamily="34" charset="-122"/>
                <a:cs typeface="Cambria" pitchFamily="34" charset="-120"/>
              </a:rPr>
              <a:t>khả thi cho IoT quy mô nhỏ</a:t>
            </a:r>
            <a:endParaRPr lang="en-US" sz="3000" dirty="0"/>
          </a:p>
        </p:txBody>
      </p:sp>
      <p:sp>
        <p:nvSpPr>
          <p:cNvPr id="5" name="Shape 3"/>
          <p:cNvSpPr/>
          <p:nvPr/>
        </p:nvSpPr>
        <p:spPr>
          <a:xfrm>
            <a:off x="548640" y="2514600"/>
            <a:ext cx="2148840" cy="777240"/>
          </a:xfrm>
          <a:prstGeom prst="roundRect">
            <a:avLst>
              <a:gd name="adj" fmla="val 8235"/>
            </a:avLst>
          </a:prstGeom>
          <a:solidFill>
            <a:srgbClr val="12193F"/>
          </a:solidFill>
          <a:ln w="9525">
            <a:solidFill>
              <a:srgbClr val="CADCFC"/>
            </a:solidFill>
            <a:prstDash val="solid"/>
          </a:ln>
        </p:spPr>
      </p:sp>
      <p:sp>
        <p:nvSpPr>
          <p:cNvPr id="6" name="Text 4"/>
          <p:cNvSpPr/>
          <p:nvPr/>
        </p:nvSpPr>
        <p:spPr>
          <a:xfrm>
            <a:off x="640080" y="2514600"/>
            <a:ext cx="1965960" cy="777240"/>
          </a:xfrm>
          <a:prstGeom prst="rect">
            <a:avLst/>
          </a:prstGeom>
          <a:noFill/>
          <a:ln/>
        </p:spPr>
        <p:txBody>
          <a:bodyPr wrap="square" rtlCol="0" anchor="ctr"/>
          <a:lstStyle/>
          <a:p>
            <a:pPr algn="ctr" indent="0" marL="0">
              <a:lnSpc>
                <a:spcPct val="100000"/>
              </a:lnSpc>
              <a:buNone/>
            </a:pPr>
            <a:r>
              <a:rPr lang="en-US" sz="1050" b="1" dirty="0">
                <a:solidFill>
                  <a:srgbClr val="CADCFC"/>
                </a:solidFill>
                <a:latin typeface="Calibri" pitchFamily="34" charset="0"/>
                <a:ea typeface="Calibri" pitchFamily="34" charset="-122"/>
                <a:cs typeface="Calibri" pitchFamily="34" charset="-120"/>
              </a:rPr>
              <a:t>Danh mục tài sản</a:t>
            </a:r>
            <a:endParaRPr lang="en-US" sz="1050" dirty="0"/>
          </a:p>
        </p:txBody>
      </p:sp>
      <p:sp>
        <p:nvSpPr>
          <p:cNvPr id="7" name="Shape 5"/>
          <p:cNvSpPr/>
          <p:nvPr/>
        </p:nvSpPr>
        <p:spPr>
          <a:xfrm>
            <a:off x="2816352" y="2514600"/>
            <a:ext cx="2148840" cy="777240"/>
          </a:xfrm>
          <a:prstGeom prst="roundRect">
            <a:avLst>
              <a:gd name="adj" fmla="val 8235"/>
            </a:avLst>
          </a:prstGeom>
          <a:solidFill>
            <a:srgbClr val="12193F"/>
          </a:solidFill>
          <a:ln w="9525">
            <a:solidFill>
              <a:srgbClr val="CADCFC"/>
            </a:solidFill>
            <a:prstDash val="solid"/>
          </a:ln>
        </p:spPr>
      </p:sp>
      <p:sp>
        <p:nvSpPr>
          <p:cNvPr id="8" name="Text 6"/>
          <p:cNvSpPr/>
          <p:nvPr/>
        </p:nvSpPr>
        <p:spPr>
          <a:xfrm>
            <a:off x="2907792" y="2514600"/>
            <a:ext cx="1965960" cy="777240"/>
          </a:xfrm>
          <a:prstGeom prst="rect">
            <a:avLst/>
          </a:prstGeom>
          <a:noFill/>
          <a:ln/>
        </p:spPr>
        <p:txBody>
          <a:bodyPr wrap="square" rtlCol="0" anchor="ctr"/>
          <a:lstStyle/>
          <a:p>
            <a:pPr algn="ctr" indent="0" marL="0">
              <a:lnSpc>
                <a:spcPct val="100000"/>
              </a:lnSpc>
              <a:buNone/>
            </a:pPr>
            <a:r>
              <a:rPr lang="en-US" sz="1050" b="1" dirty="0">
                <a:solidFill>
                  <a:srgbClr val="CADCFC"/>
                </a:solidFill>
                <a:latin typeface="Calibri" pitchFamily="34" charset="0"/>
                <a:ea typeface="Calibri" pitchFamily="34" charset="-122"/>
                <a:cs typeface="Calibri" pitchFamily="34" charset="-120"/>
              </a:rPr>
              <a:t>Sổ đăng ký rủi ro (17 rủi ro)</a:t>
            </a:r>
            <a:endParaRPr lang="en-US" sz="1050" dirty="0"/>
          </a:p>
        </p:txBody>
      </p:sp>
      <p:sp>
        <p:nvSpPr>
          <p:cNvPr id="9" name="Shape 7"/>
          <p:cNvSpPr/>
          <p:nvPr/>
        </p:nvSpPr>
        <p:spPr>
          <a:xfrm>
            <a:off x="5084064" y="2514600"/>
            <a:ext cx="2148840" cy="777240"/>
          </a:xfrm>
          <a:prstGeom prst="roundRect">
            <a:avLst>
              <a:gd name="adj" fmla="val 8235"/>
            </a:avLst>
          </a:prstGeom>
          <a:solidFill>
            <a:srgbClr val="12193F"/>
          </a:solidFill>
          <a:ln w="9525">
            <a:solidFill>
              <a:srgbClr val="CADCFC"/>
            </a:solidFill>
            <a:prstDash val="solid"/>
          </a:ln>
        </p:spPr>
      </p:sp>
      <p:sp>
        <p:nvSpPr>
          <p:cNvPr id="10" name="Text 8"/>
          <p:cNvSpPr/>
          <p:nvPr/>
        </p:nvSpPr>
        <p:spPr>
          <a:xfrm>
            <a:off x="5175504" y="2514600"/>
            <a:ext cx="1965960" cy="777240"/>
          </a:xfrm>
          <a:prstGeom prst="rect">
            <a:avLst/>
          </a:prstGeom>
          <a:noFill/>
          <a:ln/>
        </p:spPr>
        <p:txBody>
          <a:bodyPr wrap="square" rtlCol="0" anchor="ctr"/>
          <a:lstStyle/>
          <a:p>
            <a:pPr algn="ctr" indent="0" marL="0">
              <a:lnSpc>
                <a:spcPct val="100000"/>
              </a:lnSpc>
              <a:buNone/>
            </a:pPr>
            <a:r>
              <a:rPr lang="en-US" sz="1050" b="1" dirty="0">
                <a:solidFill>
                  <a:srgbClr val="CADCFC"/>
                </a:solidFill>
                <a:latin typeface="Calibri" pitchFamily="34" charset="0"/>
                <a:ea typeface="Calibri" pitchFamily="34" charset="-122"/>
                <a:cs typeface="Calibri" pitchFamily="34" charset="-120"/>
              </a:rPr>
              <a:t>Ma trận rủi ro 5×5</a:t>
            </a:r>
            <a:endParaRPr lang="en-US" sz="1050" dirty="0"/>
          </a:p>
        </p:txBody>
      </p:sp>
      <p:sp>
        <p:nvSpPr>
          <p:cNvPr id="11" name="Shape 9"/>
          <p:cNvSpPr/>
          <p:nvPr/>
        </p:nvSpPr>
        <p:spPr>
          <a:xfrm>
            <a:off x="7351776" y="2514600"/>
            <a:ext cx="2148840" cy="777240"/>
          </a:xfrm>
          <a:prstGeom prst="roundRect">
            <a:avLst>
              <a:gd name="adj" fmla="val 8235"/>
            </a:avLst>
          </a:prstGeom>
          <a:solidFill>
            <a:srgbClr val="12193F"/>
          </a:solidFill>
          <a:ln w="9525">
            <a:solidFill>
              <a:srgbClr val="CADCFC"/>
            </a:solidFill>
            <a:prstDash val="solid"/>
          </a:ln>
        </p:spPr>
      </p:sp>
      <p:sp>
        <p:nvSpPr>
          <p:cNvPr id="12" name="Text 10"/>
          <p:cNvSpPr/>
          <p:nvPr/>
        </p:nvSpPr>
        <p:spPr>
          <a:xfrm>
            <a:off x="7443216" y="2514600"/>
            <a:ext cx="1965960" cy="777240"/>
          </a:xfrm>
          <a:prstGeom prst="rect">
            <a:avLst/>
          </a:prstGeom>
          <a:noFill/>
          <a:ln/>
        </p:spPr>
        <p:txBody>
          <a:bodyPr wrap="square" rtlCol="0" anchor="ctr"/>
          <a:lstStyle/>
          <a:p>
            <a:pPr algn="ctr" indent="0" marL="0">
              <a:lnSpc>
                <a:spcPct val="100000"/>
              </a:lnSpc>
              <a:buNone/>
            </a:pPr>
            <a:r>
              <a:rPr lang="en-US" sz="1050" b="1" dirty="0">
                <a:solidFill>
                  <a:srgbClr val="CADCFC"/>
                </a:solidFill>
                <a:latin typeface="Calibri" pitchFamily="34" charset="0"/>
                <a:ea typeface="Calibri" pitchFamily="34" charset="-122"/>
                <a:cs typeface="Calibri" pitchFamily="34" charset="-120"/>
              </a:rPr>
              <a:t>Kế hoạch xử lý Top 5</a:t>
            </a:r>
            <a:endParaRPr lang="en-US" sz="1050" dirty="0"/>
          </a:p>
        </p:txBody>
      </p:sp>
      <p:sp>
        <p:nvSpPr>
          <p:cNvPr id="13" name="Shape 11"/>
          <p:cNvSpPr/>
          <p:nvPr/>
        </p:nvSpPr>
        <p:spPr>
          <a:xfrm>
            <a:off x="9619488" y="2514600"/>
            <a:ext cx="2148840" cy="777240"/>
          </a:xfrm>
          <a:prstGeom prst="roundRect">
            <a:avLst>
              <a:gd name="adj" fmla="val 8235"/>
            </a:avLst>
          </a:prstGeom>
          <a:solidFill>
            <a:srgbClr val="12193F"/>
          </a:solidFill>
          <a:ln w="9525">
            <a:solidFill>
              <a:srgbClr val="CADCFC"/>
            </a:solidFill>
            <a:prstDash val="solid"/>
          </a:ln>
        </p:spPr>
      </p:sp>
      <p:sp>
        <p:nvSpPr>
          <p:cNvPr id="14" name="Text 12"/>
          <p:cNvSpPr/>
          <p:nvPr/>
        </p:nvSpPr>
        <p:spPr>
          <a:xfrm>
            <a:off x="9710928" y="2514600"/>
            <a:ext cx="1965960" cy="777240"/>
          </a:xfrm>
          <a:prstGeom prst="rect">
            <a:avLst/>
          </a:prstGeom>
          <a:noFill/>
          <a:ln/>
        </p:spPr>
        <p:txBody>
          <a:bodyPr wrap="square" rtlCol="0" anchor="ctr"/>
          <a:lstStyle/>
          <a:p>
            <a:pPr algn="ctr" indent="0" marL="0">
              <a:lnSpc>
                <a:spcPct val="100000"/>
              </a:lnSpc>
              <a:buNone/>
            </a:pPr>
            <a:r>
              <a:rPr lang="en-US" sz="1050" b="1" dirty="0">
                <a:solidFill>
                  <a:srgbClr val="CADCFC"/>
                </a:solidFill>
                <a:latin typeface="Calibri" pitchFamily="34" charset="0"/>
                <a:ea typeface="Calibri" pitchFamily="34" charset="-122"/>
                <a:cs typeface="Calibri" pitchFamily="34" charset="-120"/>
              </a:rPr>
              <a:t>Checklist định kỳ</a:t>
            </a:r>
            <a:endParaRPr lang="en-US" sz="1050" dirty="0"/>
          </a:p>
        </p:txBody>
      </p:sp>
      <p:sp>
        <p:nvSpPr>
          <p:cNvPr id="15" name="Shape 13"/>
          <p:cNvSpPr/>
          <p:nvPr/>
        </p:nvSpPr>
        <p:spPr>
          <a:xfrm>
            <a:off x="548640" y="3657600"/>
            <a:ext cx="11091672" cy="1828800"/>
          </a:xfrm>
          <a:prstGeom prst="roundRect">
            <a:avLst>
              <a:gd name="adj" fmla="val 4000"/>
            </a:avLst>
          </a:prstGeom>
          <a:solidFill>
            <a:srgbClr val="FFFFFF"/>
          </a:solidFill>
          <a:ln/>
        </p:spPr>
      </p:sp>
      <p:sp>
        <p:nvSpPr>
          <p:cNvPr id="16" name="Text 14"/>
          <p:cNvSpPr/>
          <p:nvPr/>
        </p:nvSpPr>
        <p:spPr>
          <a:xfrm>
            <a:off x="868680" y="3886200"/>
            <a:ext cx="10424160" cy="1371600"/>
          </a:xfrm>
          <a:prstGeom prst="rect">
            <a:avLst/>
          </a:prstGeom>
          <a:noFill/>
          <a:ln/>
        </p:spPr>
        <p:txBody>
          <a:bodyPr wrap="square" rtlCol="0" anchor="t"/>
          <a:lstStyle/>
          <a:p>
            <a:pPr indent="0" marL="0">
              <a:lnSpc>
                <a:spcPct val="125000"/>
              </a:lnSpc>
              <a:buNone/>
            </a:pPr>
            <a:r>
              <a:rPr lang="en-US" sz="1500" b="1" dirty="0">
                <a:solidFill>
                  <a:srgbClr val="B23A2E"/>
                </a:solidFill>
                <a:latin typeface="Calibri" pitchFamily="34" charset="0"/>
                <a:ea typeface="Calibri" pitchFamily="34" charset="-122"/>
                <a:cs typeface="Calibri" pitchFamily="34" charset="-120"/>
              </a:rPr>
              <a:t>Điểm mấu chốt:  </a:t>
            </a:r>
            <a:pPr indent="0" marL="0">
              <a:lnSpc>
                <a:spcPct val="125000"/>
              </a:lnSpc>
              <a:buNone/>
            </a:pPr>
            <a:r>
              <a:rPr lang="en-US" sz="1500" dirty="0">
                <a:solidFill>
                  <a:srgbClr val="24272E"/>
                </a:solidFill>
                <a:latin typeface="Calibri" pitchFamily="34" charset="0"/>
                <a:ea typeface="Calibri" pitchFamily="34" charset="-122"/>
                <a:cs typeface="Calibri" pitchFamily="34" charset="-120"/>
              </a:rPr>
              <a:t>2 rủi ro nghiêm trọng nhất — truy cập trái phép camera (R-01) và chiếm quyền tài khoản admin (R-04) — đều có thể giảm thiểu đáng kể chỉ bằng biện pháp cấu hình cơ bản, </a:t>
            </a:r>
            <a:pPr indent="0" marL="0">
              <a:lnSpc>
                <a:spcPct val="125000"/>
              </a:lnSpc>
              <a:buNone/>
            </a:pPr>
            <a:r>
              <a:rPr lang="en-US" sz="1500" b="1" dirty="0">
                <a:solidFill>
                  <a:srgbClr val="24272E"/>
                </a:solidFill>
                <a:latin typeface="Calibri" pitchFamily="34" charset="0"/>
                <a:ea typeface="Calibri" pitchFamily="34" charset="-122"/>
                <a:cs typeface="Calibri" pitchFamily="34" charset="-120"/>
              </a:rPr>
              <a:t>không tốn chi phí đầu tư thêm.</a:t>
            </a:r>
            <a:endParaRPr lang="en-US" sz="1500" dirty="0"/>
          </a:p>
        </p:txBody>
      </p:sp>
      <p:sp>
        <p:nvSpPr>
          <p:cNvPr id="17" name="Text 15"/>
          <p:cNvSpPr/>
          <p:nvPr/>
        </p:nvSpPr>
        <p:spPr>
          <a:xfrm>
            <a:off x="548640" y="6446520"/>
            <a:ext cx="10058400" cy="27432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Trường Đại học Văn Hiến — Khoa Công nghệ Thông tin  •  Đề tài 35, Học phần Bảo mật IoT (INT4410)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E2761"/>
                </a:solidFill>
                <a:latin typeface="Calibri" pitchFamily="34" charset="0"/>
                <a:ea typeface="Calibri" pitchFamily="34" charset="-122"/>
                <a:cs typeface="Calibri" pitchFamily="34" charset="-120"/>
              </a:rPr>
              <a:t>NGUỒN THAM KHẢO</a:t>
            </a:r>
            <a:endParaRPr lang="en-US" sz="1250" dirty="0"/>
          </a:p>
        </p:txBody>
      </p:sp>
      <p:sp>
        <p:nvSpPr>
          <p:cNvPr id="3" name="Text 1"/>
          <p:cNvSpPr/>
          <p:nvPr/>
        </p:nvSpPr>
        <p:spPr>
          <a:xfrm>
            <a:off x="548640" y="658368"/>
            <a:ext cx="11064240" cy="640080"/>
          </a:xfrm>
          <a:prstGeom prst="rect">
            <a:avLst/>
          </a:prstGeom>
          <a:noFill/>
          <a:ln/>
        </p:spPr>
        <p:txBody>
          <a:bodyPr wrap="square" rtlCol="0" anchor="ctr"/>
          <a:lstStyle/>
          <a:p>
            <a:pPr indent="0" marL="0">
              <a:buNone/>
            </a:pPr>
            <a:r>
              <a:rPr lang="en-US" sz="2800" b="1" dirty="0">
                <a:solidFill>
                  <a:srgbClr val="24272E"/>
                </a:solidFill>
                <a:latin typeface="Cambria" pitchFamily="34" charset="0"/>
                <a:ea typeface="Cambria" pitchFamily="34" charset="-122"/>
                <a:cs typeface="Cambria" pitchFamily="34" charset="-120"/>
              </a:rPr>
              <a:t>Tài liệu tham khảo và liên kết repo GitHub</a:t>
            </a:r>
            <a:endParaRPr lang="en-US" sz="2800" dirty="0"/>
          </a:p>
        </p:txBody>
      </p:sp>
      <p:sp>
        <p:nvSpPr>
          <p:cNvPr id="4" name="Text 2"/>
          <p:cNvSpPr/>
          <p:nvPr/>
        </p:nvSpPr>
        <p:spPr>
          <a:xfrm>
            <a:off x="548640" y="6528816"/>
            <a:ext cx="8686800" cy="274320"/>
          </a:xfrm>
          <a:prstGeom prst="rect">
            <a:avLst/>
          </a:prstGeom>
          <a:noFill/>
          <a:ln/>
        </p:spPr>
        <p:txBody>
          <a:bodyPr wrap="square" rtlCol="0" anchor="ctr"/>
          <a:lstStyle/>
          <a:p>
            <a:pPr indent="0" marL="0">
              <a:buNone/>
            </a:pPr>
            <a:r>
              <a:rPr lang="en-US" sz="900" dirty="0">
                <a:solidFill>
                  <a:srgbClr val="5B6270"/>
                </a:solidFill>
                <a:latin typeface="Calibri" pitchFamily="34" charset="0"/>
                <a:ea typeface="Calibri" pitchFamily="34" charset="-122"/>
                <a:cs typeface="Calibri" pitchFamily="34" charset="-120"/>
              </a:rPr>
              <a:t>Đề tài 35 — Quản lý rủi ro bảo mật cho hệ thống IoT quy mô nhỏ</a:t>
            </a:r>
            <a:endParaRPr lang="en-US" sz="900" dirty="0"/>
          </a:p>
        </p:txBody>
      </p:sp>
      <p:sp>
        <p:nvSpPr>
          <p:cNvPr id="5" name="Text 3"/>
          <p:cNvSpPr/>
          <p:nvPr/>
        </p:nvSpPr>
        <p:spPr>
          <a:xfrm>
            <a:off x="11521440" y="6528816"/>
            <a:ext cx="457200"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48640" y="1508760"/>
            <a:ext cx="11091672" cy="3063240"/>
          </a:xfrm>
          <a:prstGeom prst="roundRect">
            <a:avLst>
              <a:gd name="adj" fmla="val 2388"/>
            </a:avLst>
          </a:prstGeom>
          <a:solidFill>
            <a:srgbClr val="F4F6FB"/>
          </a:solidFill>
          <a:ln/>
        </p:spPr>
      </p:sp>
      <p:sp>
        <p:nvSpPr>
          <p:cNvPr id="7" name="Text 5"/>
          <p:cNvSpPr/>
          <p:nvPr/>
        </p:nvSpPr>
        <p:spPr>
          <a:xfrm>
            <a:off x="868680" y="1737360"/>
            <a:ext cx="10515600" cy="411480"/>
          </a:xfrm>
          <a:prstGeom prst="rect">
            <a:avLst/>
          </a:prstGeom>
          <a:noFill/>
          <a:ln/>
        </p:spPr>
        <p:txBody>
          <a:bodyPr wrap="square" rtlCol="0" anchor="ctr"/>
          <a:lstStyle/>
          <a:p>
            <a:pPr indent="0" marL="0">
              <a:buNone/>
            </a:pPr>
            <a:r>
              <a:rPr lang="en-US" sz="1200" dirty="0">
                <a:solidFill>
                  <a:srgbClr val="24272E"/>
                </a:solidFill>
                <a:latin typeface="Calibri" pitchFamily="34" charset="0"/>
                <a:ea typeface="Calibri" pitchFamily="34" charset="-122"/>
                <a:cs typeface="Calibri" pitchFamily="34" charset="-120"/>
              </a:rPr>
              <a:t>[1] OWASP IoT Security Verification Standard (ISVS) — github.com/OWASP/IoT-Security-Verification-Standard-ISVS</a:t>
            </a:r>
            <a:endParaRPr lang="en-US" sz="1200" dirty="0"/>
          </a:p>
        </p:txBody>
      </p:sp>
      <p:sp>
        <p:nvSpPr>
          <p:cNvPr id="8" name="Text 6"/>
          <p:cNvSpPr/>
          <p:nvPr/>
        </p:nvSpPr>
        <p:spPr>
          <a:xfrm>
            <a:off x="868680" y="2194560"/>
            <a:ext cx="10515600" cy="411480"/>
          </a:xfrm>
          <a:prstGeom prst="rect">
            <a:avLst/>
          </a:prstGeom>
          <a:noFill/>
          <a:ln/>
        </p:spPr>
        <p:txBody>
          <a:bodyPr wrap="square" rtlCol="0" anchor="ctr"/>
          <a:lstStyle/>
          <a:p>
            <a:pPr indent="0" marL="0">
              <a:buNone/>
            </a:pPr>
            <a:r>
              <a:rPr lang="en-US" sz="1200" dirty="0">
                <a:solidFill>
                  <a:srgbClr val="24272E"/>
                </a:solidFill>
                <a:latin typeface="Calibri" pitchFamily="34" charset="0"/>
                <a:ea typeface="Calibri" pitchFamily="34" charset="-122"/>
                <a:cs typeface="Calibri" pitchFamily="34" charset="-120"/>
              </a:rPr>
              <a:t>[2] OWASP IoT Security Testing Guide (ISTG) — github.com/OWASP/owasp-istg</a:t>
            </a:r>
            <a:endParaRPr lang="en-US" sz="1200" dirty="0"/>
          </a:p>
        </p:txBody>
      </p:sp>
      <p:sp>
        <p:nvSpPr>
          <p:cNvPr id="9" name="Text 7"/>
          <p:cNvSpPr/>
          <p:nvPr/>
        </p:nvSpPr>
        <p:spPr>
          <a:xfrm>
            <a:off x="868680" y="2651760"/>
            <a:ext cx="10515600" cy="411480"/>
          </a:xfrm>
          <a:prstGeom prst="rect">
            <a:avLst/>
          </a:prstGeom>
          <a:noFill/>
          <a:ln/>
        </p:spPr>
        <p:txBody>
          <a:bodyPr wrap="square" rtlCol="0" anchor="ctr"/>
          <a:lstStyle/>
          <a:p>
            <a:pPr indent="0" marL="0">
              <a:buNone/>
            </a:pPr>
            <a:r>
              <a:rPr lang="en-US" sz="1200" dirty="0">
                <a:solidFill>
                  <a:srgbClr val="24272E"/>
                </a:solidFill>
                <a:latin typeface="Calibri" pitchFamily="34" charset="0"/>
                <a:ea typeface="Calibri" pitchFamily="34" charset="-122"/>
                <a:cs typeface="Calibri" pitchFamily="34" charset="-120"/>
              </a:rPr>
              <a:t>[3] OWASP Internet of Things Project — github.com/OWASP/www-project-internet-of-things</a:t>
            </a:r>
            <a:endParaRPr lang="en-US" sz="1200" dirty="0"/>
          </a:p>
        </p:txBody>
      </p:sp>
      <p:sp>
        <p:nvSpPr>
          <p:cNvPr id="10" name="Text 8"/>
          <p:cNvSpPr/>
          <p:nvPr/>
        </p:nvSpPr>
        <p:spPr>
          <a:xfrm>
            <a:off x="868680" y="3108960"/>
            <a:ext cx="10515600" cy="411480"/>
          </a:xfrm>
          <a:prstGeom prst="rect">
            <a:avLst/>
          </a:prstGeom>
          <a:noFill/>
          <a:ln/>
        </p:spPr>
        <p:txBody>
          <a:bodyPr wrap="square" rtlCol="0" anchor="ctr"/>
          <a:lstStyle/>
          <a:p>
            <a:pPr indent="0" marL="0">
              <a:buNone/>
            </a:pPr>
            <a:r>
              <a:rPr lang="en-US" sz="1200" dirty="0">
                <a:solidFill>
                  <a:srgbClr val="24272E"/>
                </a:solidFill>
                <a:latin typeface="Calibri" pitchFamily="34" charset="0"/>
                <a:ea typeface="Calibri" pitchFamily="34" charset="-122"/>
                <a:cs typeface="Calibri" pitchFamily="34" charset="-120"/>
              </a:rPr>
              <a:t>[4] Brian Russell, Drew Van Duren — Practical Internet of Things Security, Packt Publishing, 2016</a:t>
            </a:r>
            <a:endParaRPr lang="en-US" sz="1200" dirty="0"/>
          </a:p>
        </p:txBody>
      </p:sp>
      <p:sp>
        <p:nvSpPr>
          <p:cNvPr id="11" name="Text 9"/>
          <p:cNvSpPr/>
          <p:nvPr/>
        </p:nvSpPr>
        <p:spPr>
          <a:xfrm>
            <a:off x="868680" y="3566160"/>
            <a:ext cx="10515600" cy="411480"/>
          </a:xfrm>
          <a:prstGeom prst="rect">
            <a:avLst/>
          </a:prstGeom>
          <a:noFill/>
          <a:ln/>
        </p:spPr>
        <p:txBody>
          <a:bodyPr wrap="square" rtlCol="0" anchor="ctr"/>
          <a:lstStyle/>
          <a:p>
            <a:pPr indent="0" marL="0">
              <a:buNone/>
            </a:pPr>
            <a:r>
              <a:rPr lang="en-US" sz="1200" dirty="0">
                <a:solidFill>
                  <a:srgbClr val="24272E"/>
                </a:solidFill>
                <a:latin typeface="Calibri" pitchFamily="34" charset="0"/>
                <a:ea typeface="Calibri" pitchFamily="34" charset="-122"/>
                <a:cs typeface="Calibri" pitchFamily="34" charset="-120"/>
              </a:rPr>
              <a:t>[5] IoT Security Guidelines Ver. 1.0 — IoT Acceleration Consortium, MIC, METI, 2016</a:t>
            </a:r>
            <a:endParaRPr lang="en-US" sz="1200" dirty="0"/>
          </a:p>
        </p:txBody>
      </p:sp>
      <p:sp>
        <p:nvSpPr>
          <p:cNvPr id="12" name="Text 10"/>
          <p:cNvSpPr/>
          <p:nvPr/>
        </p:nvSpPr>
        <p:spPr>
          <a:xfrm>
            <a:off x="868680" y="4023360"/>
            <a:ext cx="10515600" cy="411480"/>
          </a:xfrm>
          <a:prstGeom prst="rect">
            <a:avLst/>
          </a:prstGeom>
          <a:noFill/>
          <a:ln/>
        </p:spPr>
        <p:txBody>
          <a:bodyPr wrap="square" rtlCol="0" anchor="ctr"/>
          <a:lstStyle/>
          <a:p>
            <a:pPr indent="0" marL="0">
              <a:buNone/>
            </a:pPr>
            <a:r>
              <a:rPr lang="en-US" sz="1200" dirty="0">
                <a:solidFill>
                  <a:srgbClr val="24272E"/>
                </a:solidFill>
                <a:latin typeface="Calibri" pitchFamily="34" charset="0"/>
                <a:ea typeface="Calibri" pitchFamily="34" charset="-122"/>
                <a:cs typeface="Calibri" pitchFamily="34" charset="-120"/>
              </a:rPr>
              <a:t>[6] Node-RED — github.com/node-red/node-red</a:t>
            </a:r>
            <a:endParaRPr lang="en-US" sz="1200" dirty="0"/>
          </a:p>
        </p:txBody>
      </p:sp>
      <p:sp>
        <p:nvSpPr>
          <p:cNvPr id="13" name="Shape 11"/>
          <p:cNvSpPr/>
          <p:nvPr/>
        </p:nvSpPr>
        <p:spPr>
          <a:xfrm>
            <a:off x="548640" y="4800600"/>
            <a:ext cx="11091672" cy="1417320"/>
          </a:xfrm>
          <a:prstGeom prst="roundRect">
            <a:avLst>
              <a:gd name="adj" fmla="val 5161"/>
            </a:avLst>
          </a:prstGeom>
          <a:solidFill>
            <a:srgbClr val="1E2761"/>
          </a:solidFill>
          <a:ln/>
        </p:spPr>
      </p:sp>
      <p:sp>
        <p:nvSpPr>
          <p:cNvPr id="14" name="Text 12"/>
          <p:cNvSpPr/>
          <p:nvPr/>
        </p:nvSpPr>
        <p:spPr>
          <a:xfrm>
            <a:off x="868680" y="4983480"/>
            <a:ext cx="5486400" cy="320040"/>
          </a:xfrm>
          <a:prstGeom prst="rect">
            <a:avLst/>
          </a:prstGeom>
          <a:noFill/>
          <a:ln/>
        </p:spPr>
        <p:txBody>
          <a:bodyPr wrap="square" rtlCol="0" anchor="ctr"/>
          <a:lstStyle/>
          <a:p>
            <a:pPr indent="0" marL="0">
              <a:buNone/>
            </a:pPr>
            <a:r>
              <a:rPr lang="en-US" sz="1350" b="1" dirty="0">
                <a:solidFill>
                  <a:srgbClr val="CADCFC"/>
                </a:solidFill>
                <a:latin typeface="Cambria" pitchFamily="34" charset="0"/>
                <a:ea typeface="Cambria" pitchFamily="34" charset="-122"/>
                <a:cs typeface="Cambria" pitchFamily="34" charset="-120"/>
              </a:rPr>
              <a:t>REPOSITORY GITHUB CỦA ĐỀ TÀI</a:t>
            </a:r>
            <a:endParaRPr lang="en-US" sz="1350" dirty="0"/>
          </a:p>
        </p:txBody>
      </p:sp>
      <p:sp>
        <p:nvSpPr>
          <p:cNvPr id="15" name="Text 13"/>
          <p:cNvSpPr/>
          <p:nvPr/>
        </p:nvSpPr>
        <p:spPr>
          <a:xfrm>
            <a:off x="868680" y="5321808"/>
            <a:ext cx="10332720" cy="777240"/>
          </a:xfrm>
          <a:prstGeom prst="rect">
            <a:avLst/>
          </a:prstGeom>
          <a:noFill/>
          <a:ln/>
        </p:spPr>
        <p:txBody>
          <a:bodyPr wrap="square" rtlCol="0" anchor="t"/>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DeTai35-IoT-Security-Risk-Management</a:t>
            </a:r>
            <a:endParaRPr lang="en-US" sz="1300" dirty="0"/>
          </a:p>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[dán URL repo GitHub của nhóm vào đây khi nộp bài]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 ly rui ro bao mat cho he thong IoT quy mo nho</dc:title>
  <dc:subject>PptxGenJS Presentation</dc:subject>
  <dc:creator>Vo Nguyen Duyen</dc:creator>
  <cp:lastModifiedBy>Vo Nguyen Duyen</cp:lastModifiedBy>
  <cp:revision>1</cp:revision>
  <dcterms:created xsi:type="dcterms:W3CDTF">2026-07-23T07:50:35Z</dcterms:created>
  <dcterms:modified xsi:type="dcterms:W3CDTF">2026-07-23T07:50:35Z</dcterms:modified>
</cp:coreProperties>
</file>